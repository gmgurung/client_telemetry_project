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71" r:id="rId9"/>
    <p:sldId id="272" r:id="rId10"/>
    <p:sldId id="273" r:id="rId11"/>
    <p:sldId id="265" r:id="rId12"/>
    <p:sldId id="266" r:id="rId13"/>
    <p:sldId id="267" r:id="rId14"/>
    <p:sldId id="274" r:id="rId15"/>
    <p:sldId id="275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93B"/>
    <a:srgbClr val="111827"/>
    <a:srgbClr val="C81E3A"/>
    <a:srgbClr val="D1D5DB"/>
    <a:srgbClr val="0F172A"/>
    <a:srgbClr val="334155"/>
    <a:srgbClr val="0B1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3A3CF0-828D-5585-3DAF-76341F1574D4}" v="160" dt="2026-05-18T05:47:14.709"/>
    <p1510:client id="{4F78E454-D5BC-77D8-3A32-BE4CA34B3860}" v="12" dt="2026-05-19T01:41:55.650"/>
    <p1510:client id="{6C19CAA5-145E-8D4A-D777-9ADB1CE6DF4A}" v="6" dt="2026-05-19T01:09:13.113"/>
    <p1510:client id="{8010DA5B-2065-5F55-0DF2-FB6E1004BA2E}" v="1" dt="2026-05-18T19:21:11.291"/>
    <p1510:client id="{B0031E79-2629-DE49-8F85-6AFA403E98D7}" v="23" dt="2026-05-19T01:28:30.681"/>
    <p1510:client id="{DD9C3620-1E30-8628-6A38-12C72A829DC1}" v="31" dt="2026-05-19T01:21:01.157"/>
    <p1510:client id="{F4E564B9-0B3A-0E49-34F7-08A507AD045D}" v="372" dt="2026-05-18T19:11:45.6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023566-DF91-F74F-985E-894714A8B88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681C95-379A-0B47-8D10-9CE60EAE1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772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1C95-379A-0B47-8D10-9CE60EAE185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868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90C67-04B4-8222-52A5-3DA6047A5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80EAC0-4BA4-847C-0B1D-326D2B65E7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2055A2-DE09-375C-166B-61C56743E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63E02-3F12-7057-A97C-392FE0ACF8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1C95-379A-0B47-8D10-9CE60EAE185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011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F9A50-0F71-CBF7-32AA-B609EB6CC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287239-738A-0E0A-00C8-3FED01792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B4CBEF-BE65-33AC-E875-51CEA1C727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4ACF0-C067-6069-6AF0-11238717F2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1C95-379A-0B47-8D10-9CE60EAE185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3286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9ED62-3693-DF3F-680E-68EE839B7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F283A9-883B-8982-8952-743CBE1E64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56B6C6-88FA-FDA9-A0AD-022EFC81EB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4592C-C6EC-BAA2-E36C-5525E5608F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1C95-379A-0B47-8D10-9CE60EAE185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2359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11F7D-9C4A-254D-82B1-6FB11CF29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F05248-FC23-8424-B24F-7C47E6E3DC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04CF6D-7EC5-EDA1-AF61-A59A45B08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5DE9D-D43E-2A9A-B507-85CA6C500A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1C95-379A-0B47-8D10-9CE60EAE185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6998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08066-5CF4-463E-CD39-519A8EA69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7D59FE-5294-163B-4007-0937999A12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962E0B-59D8-2C77-E6C1-3A7A5DE60E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C103D3-BEF9-E01E-A8FF-42522DF35B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1C95-379A-0B47-8D10-9CE60EAE185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4486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7BD17-5EC8-0352-2E36-90136FAB6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5ED592-48CE-B655-30CF-BAA19A10D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ED64C8-A74C-C2F2-E77B-EA7BFCAC7B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9F41F-47D0-0670-4A88-58E94C52D2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1C95-379A-0B47-8D10-9CE60EAE185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1286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CDE35-593E-B134-ABB1-B7DEA3BDD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36F2F2-9EC9-12A7-13BB-8F18B05BD1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7E5F66-F1D2-15C7-6BD8-91EF6F48E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E1CEB0-5546-964A-71D0-DD16962983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1C95-379A-0B47-8D10-9CE60EAE185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7013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31C96-EB6D-DCEB-972C-FA6786EE3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0636EA-B4CE-88A2-940E-3411C19A91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3AA071-08DE-5667-839E-4CC884CB98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DD862-D6BF-B90B-47FB-9EE2BFA1F8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1C95-379A-0B47-8D10-9CE60EAE185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2311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89793-6A42-A67C-3D1F-91082B732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D4E4BF-802E-37A9-BF9F-98CF3E5F37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4B236E-F326-7825-AC7E-DCBA0DD6C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09B6B-79CD-D187-E32F-0FD73AFEC0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1C95-379A-0B47-8D10-9CE60EAE185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9328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2890B-5B08-EE24-ACB0-9CEAE6D5F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107B51-03EE-D8BF-B7BA-B7670C694E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F996D1-5C3D-7A6D-A039-16AB2377E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0D298-D283-6265-8070-50A88FDEBD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1C95-379A-0B47-8D10-9CE60EAE185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2215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AA149-7D90-304E-D849-E57998119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53C1B9-E795-2A53-95FC-436624F802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CDDF67-A350-55C7-52CE-89B49C3D2A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FFEF3-F6A5-CFEA-EC3C-E34028EDB4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1C95-379A-0B47-8D10-9CE60EAE185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6932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A1C53-641A-0892-4E01-05AA60404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D49398-23E7-9062-B85C-0FD0D00FF8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08BC5A-AA29-E84F-1D5B-FB03655A36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728AC7-64F5-AADE-28E5-0AE69A9865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1C95-379A-0B47-8D10-9CE60EAE185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4941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75220-2A22-D567-ECE3-9B3F6F520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3405E4-3D50-04FB-1C83-CD9A967687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5B3BF1-7169-6542-ED18-AED8B9F464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0C75D-8C05-2F5D-DD0E-1386187EF8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1C95-379A-0B47-8D10-9CE60EAE185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9165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917B1-6A48-6DC9-F1C9-2C7BE313F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87B146-333F-39F3-6522-EA15FE475E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C150F8-CA99-2176-FC94-B4374403B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624F17-F0A8-AE2E-4DB3-305E0B2383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1C95-379A-0B47-8D10-9CE60EAE185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811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35D50-6F2A-D702-7A9F-E3CAC9482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B85AF1-E800-7494-DB0E-C90718942A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8688E5-4E5F-F247-DEB8-CB20F8E73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89533-040A-0DAE-6D68-F169DCBE99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1C95-379A-0B47-8D10-9CE60EAE185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2116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B2636-D3F2-26AD-8C78-E93384213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259200-0AE7-406C-4457-26F5D3363A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3C76C4-91A8-1113-C584-C6A75B193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07274-33CB-E088-E009-F9A87BAF6C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1C95-379A-0B47-8D10-9CE60EAE185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024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FE212-0DA4-5222-2E23-97F8EA22C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5BAAE2-691F-01FB-548D-5C5C1F7D38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7E6B1-B75F-4641-F433-2B9E9C812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AF0B0-D62E-204B-9CB3-F667A98EA470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63713-79BB-5437-454A-910EBA244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D685B-9266-A0CF-44A0-3137B53BD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0E7F1-25EF-D04E-95AB-52043B938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150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47346-620B-197F-FBC3-238E37DF1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11D9D-90BB-07FF-23AB-1A16346AF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526ED-4653-DCC9-92E0-76A752AC7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AF0B0-D62E-204B-9CB3-F667A98EA470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C9BD4-0717-C329-2097-B40946D38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2172A-DEB9-FEA6-8DD1-76644DDBF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0E7F1-25EF-D04E-95AB-52043B938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479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8417B-1D8A-D784-F475-FAAE45E59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1DE93-F8FD-AEEF-5D5E-271DADEF9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B1894-BEC3-8B86-98BE-F0841E272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AF0B0-D62E-204B-9CB3-F667A98EA470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D3DC0-1694-800D-379A-2F3180E6D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87EBB-0164-B4FB-C556-8B546B9ED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0E7F1-25EF-D04E-95AB-52043B938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705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04DBB-049E-1B37-9437-ABBEA4E48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57D61-326A-DAAF-0CCF-E8E390F458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FC3328-E82A-9EB0-ADBD-B88D83C4E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04414A-5916-785C-743A-401C573FF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AF0B0-D62E-204B-9CB3-F667A98EA470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36BA50-8B57-B4E2-B3E0-4370E9C15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34C3AB-4351-1454-D486-DD64D68ED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0E7F1-25EF-D04E-95AB-52043B938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211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AB1C4-3D2E-1365-9586-D0DC493D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8B201E-D0EB-8E1B-7B76-87A7E83D9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C29601-ECA8-3BC4-B32A-810D4223A3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489A99-3646-7DAE-4DFE-DEDFF4935D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D6147C-CE8F-8C1A-E2A6-7B91B09CF9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5EE02D-6374-9BDB-CDB4-38B686420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AF0B0-D62E-204B-9CB3-F667A98EA470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529FBF-457D-7364-8BD5-25D5580FF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5A0A47-7064-0BC7-D89A-38472CB80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0E7F1-25EF-D04E-95AB-52043B938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816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86FA9-23E5-4FCF-0EE2-AD3A88C43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DF1EB1-6C7D-E6B3-6A25-AB0880B13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AF0B0-D62E-204B-9CB3-F667A98EA470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4D7AF6-C01B-BFBD-A9D8-DA079B9CE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F46386-A42E-1834-04B4-C1EA5ABF1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0E7F1-25EF-D04E-95AB-52043B938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583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2D2C89-519A-56E4-CAB2-990D79BDD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AF0B0-D62E-204B-9CB3-F667A98EA470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4C045A-9C18-1639-AED4-1DE1E8042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494F6-BA7A-F5C1-A94D-E51633788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0E7F1-25EF-D04E-95AB-52043B938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485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EB27E-5F5C-B005-0687-6B74CD8DD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7B69F-89C7-7927-ADE0-D6D6C7657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9B8349-6103-62E7-5479-3A15134E1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848A1D-B9BE-8A14-BB67-63464B517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AF0B0-D62E-204B-9CB3-F667A98EA470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6BD3BF-D07D-14EA-492D-5835A2255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F1BD4-7746-B491-817D-6053E694F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0E7F1-25EF-D04E-95AB-52043B938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804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AA7DA-2E95-BF64-85E2-AE7CED235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084C97-CDD7-E9C9-AA0B-2C9FA8235F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A77A89-034E-86E2-3F20-EB56FC6DC1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ECC9ED-D2F4-E974-B78C-FFAD56A4B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AF0B0-D62E-204B-9CB3-F667A98EA470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AD8AD-03AD-8BA8-47CD-466656638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F9D837-BCB1-2960-92B9-E895C9793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0E7F1-25EF-D04E-95AB-52043B938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733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9AD40-7ED2-1E90-2B98-8F6141E61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F11EDC-3C34-A229-4BEF-885831654E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B31E1-39C5-FA04-2D30-377DF0446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AF0B0-D62E-204B-9CB3-F667A98EA470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22C81-27AF-4402-66B5-64D0FB32A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93454-7495-3C18-F06C-611D14A35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0E7F1-25EF-D04E-95AB-52043B938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27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A39985-0E49-DB48-C43C-63B50011AB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D3C660-8D54-976C-DD47-B6A733DE55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57653-14AB-441B-71B0-87B7B79C4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AF0B0-D62E-204B-9CB3-F667A98EA470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24FF4-C4C5-13AF-5CDC-0641D415F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667AC-E62C-9648-9259-F78E8E206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0E7F1-25EF-D04E-95AB-52043B938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143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F988F8-F657-169C-32DC-09E867777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91F748-5264-3204-846F-90E6328C3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B2790-1FCA-84C7-3170-374FF6A6E2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3AF0B0-D62E-204B-9CB3-F667A98EA470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A08D5-6364-6CB8-21B5-35B7F7E00B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ECB56-831C-37AE-ECFF-468F3B6968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40E7F1-25EF-D04E-95AB-52043B938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113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1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11" Type="http://schemas.openxmlformats.org/officeDocument/2006/relationships/image" Target="../media/image12.jpe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svg"/><Relationship Id="rId9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7497B3-16DD-8F83-2BB6-95403161D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72" y="-520613"/>
            <a:ext cx="1642976" cy="16429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658A44-EDF5-7C97-04DF-573E36F0B5AB}"/>
              </a:ext>
            </a:extLst>
          </p:cNvPr>
          <p:cNvSpPr txBox="1"/>
          <p:nvPr/>
        </p:nvSpPr>
        <p:spPr>
          <a:xfrm>
            <a:off x="1817148" y="146986"/>
            <a:ext cx="2790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rgbClr val="D1D5D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CLIENT TELEMETRY AI SYSTEM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9EE50E9-6121-095E-C3B8-4FB38D32053E}"/>
              </a:ext>
            </a:extLst>
          </p:cNvPr>
          <p:cNvCxnSpPr>
            <a:cxnSpLocks/>
          </p:cNvCxnSpPr>
          <p:nvPr/>
        </p:nvCxnSpPr>
        <p:spPr>
          <a:xfrm>
            <a:off x="0" y="566057"/>
            <a:ext cx="1219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0D5831C-8F61-BEBD-B8E0-40CB910A6B62}"/>
              </a:ext>
            </a:extLst>
          </p:cNvPr>
          <p:cNvCxnSpPr>
            <a:cxnSpLocks/>
          </p:cNvCxnSpPr>
          <p:nvPr/>
        </p:nvCxnSpPr>
        <p:spPr>
          <a:xfrm>
            <a:off x="0" y="6313714"/>
            <a:ext cx="1219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E911D17-99EF-9D8F-24EB-81930E0E552B}"/>
              </a:ext>
            </a:extLst>
          </p:cNvPr>
          <p:cNvSpPr txBox="1"/>
          <p:nvPr/>
        </p:nvSpPr>
        <p:spPr>
          <a:xfrm>
            <a:off x="442686" y="6444620"/>
            <a:ext cx="74834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rgbClr val="D1D5D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Sabrina Akter    |    </a:t>
            </a:r>
            <a:r>
              <a:rPr lang="en-US" sz="1200" err="1">
                <a:solidFill>
                  <a:srgbClr val="D1D5D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Shengyang</a:t>
            </a:r>
            <a:r>
              <a:rPr lang="en-US" sz="1200">
                <a:solidFill>
                  <a:srgbClr val="D1D5D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Dong    |    Junkai Ge    |    Manish Gurung    |    Geri Koka    |    Guanxin Zheng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577D9F-8A9D-74D9-A6F6-CE6C5EADB8BC}"/>
              </a:ext>
            </a:extLst>
          </p:cNvPr>
          <p:cNvSpPr/>
          <p:nvPr/>
        </p:nvSpPr>
        <p:spPr>
          <a:xfrm>
            <a:off x="0" y="566056"/>
            <a:ext cx="12192000" cy="57476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BFDA4E-21BF-DFCC-8283-B9D9B49468E2}"/>
              </a:ext>
            </a:extLst>
          </p:cNvPr>
          <p:cNvSpPr txBox="1"/>
          <p:nvPr/>
        </p:nvSpPr>
        <p:spPr>
          <a:xfrm>
            <a:off x="995660" y="1128242"/>
            <a:ext cx="513805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111827"/>
                </a:solidFill>
                <a:latin typeface="+mj-lt"/>
                <a:cs typeface="Segoe UI" panose="020B0502040204020203" pitchFamily="34" charset="0"/>
              </a:rPr>
              <a:t>Vanguard Client Telemetry AI System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1774203-30E3-0833-E675-7253BE587A34}"/>
              </a:ext>
            </a:extLst>
          </p:cNvPr>
          <p:cNvCxnSpPr>
            <a:cxnSpLocks/>
          </p:cNvCxnSpPr>
          <p:nvPr/>
        </p:nvCxnSpPr>
        <p:spPr>
          <a:xfrm>
            <a:off x="1132013" y="2669395"/>
            <a:ext cx="1248228" cy="0"/>
          </a:xfrm>
          <a:prstGeom prst="line">
            <a:avLst/>
          </a:prstGeom>
          <a:ln w="76200">
            <a:solidFill>
              <a:srgbClr val="C81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7002196-3522-0729-C2CE-273C686F05DA}"/>
              </a:ext>
            </a:extLst>
          </p:cNvPr>
          <p:cNvSpPr txBox="1"/>
          <p:nvPr/>
        </p:nvSpPr>
        <p:spPr>
          <a:xfrm>
            <a:off x="995660" y="2974647"/>
            <a:ext cx="56171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rgbClr val="1E293B"/>
                </a:solidFill>
              </a:rPr>
              <a:t>Detecting Frustration.</a:t>
            </a:r>
          </a:p>
          <a:p>
            <a:r>
              <a:rPr lang="en-US" sz="2000">
                <a:solidFill>
                  <a:srgbClr val="1E293B"/>
                </a:solidFill>
              </a:rPr>
              <a:t>Prioritizing Impact. Improving Client Experiences.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960533-FDCD-7F93-5845-FDA7DDA38EC3}"/>
              </a:ext>
            </a:extLst>
          </p:cNvPr>
          <p:cNvSpPr txBox="1"/>
          <p:nvPr/>
        </p:nvSpPr>
        <p:spPr>
          <a:xfrm>
            <a:off x="995660" y="4698904"/>
            <a:ext cx="2299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1E293B"/>
                </a:solidFill>
              </a:rPr>
              <a:t>May 19, 2026</a:t>
            </a:r>
          </a:p>
          <a:p>
            <a:r>
              <a:rPr lang="en-US" sz="1400">
                <a:solidFill>
                  <a:srgbClr val="1E293B"/>
                </a:solidFill>
              </a:rPr>
              <a:t>CI493 Senior Project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9D18052-830B-ECE4-E6F5-C9F3ECC753D3}"/>
              </a:ext>
            </a:extLst>
          </p:cNvPr>
          <p:cNvCxnSpPr/>
          <p:nvPr/>
        </p:nvCxnSpPr>
        <p:spPr>
          <a:xfrm>
            <a:off x="2902856" y="4194629"/>
            <a:ext cx="0" cy="1027495"/>
          </a:xfrm>
          <a:prstGeom prst="line">
            <a:avLst/>
          </a:prstGeom>
          <a:ln w="12700">
            <a:solidFill>
              <a:srgbClr val="D1D5DB">
                <a:alpha val="7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Graphic 23" descr="Users outline">
            <a:extLst>
              <a:ext uri="{FF2B5EF4-FFF2-40B4-BE49-F238E27FC236}">
                <a16:creationId xmlns:a16="http://schemas.microsoft.com/office/drawing/2014/main" id="{170F2FE5-06B7-0440-0945-CFD037BB4C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96225" y="4020921"/>
            <a:ext cx="707880" cy="70788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73E0C4B-5C54-9077-98BD-6401A05884B6}"/>
              </a:ext>
            </a:extLst>
          </p:cNvPr>
          <p:cNvSpPr txBox="1"/>
          <p:nvPr/>
        </p:nvSpPr>
        <p:spPr>
          <a:xfrm>
            <a:off x="3062514" y="4652737"/>
            <a:ext cx="15712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1E293B"/>
                </a:solidFill>
              </a:rPr>
              <a:t>Team Vanguard</a:t>
            </a:r>
          </a:p>
        </p:txBody>
      </p:sp>
      <p:pic>
        <p:nvPicPr>
          <p:cNvPr id="27" name="Graphic 26" descr="Bar graph with upward trend outline">
            <a:extLst>
              <a:ext uri="{FF2B5EF4-FFF2-40B4-BE49-F238E27FC236}">
                <a16:creationId xmlns:a16="http://schemas.microsoft.com/office/drawing/2014/main" id="{6572DD1B-A3BA-D5A1-FBC6-D361400B00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67519" y="4075510"/>
            <a:ext cx="598701" cy="598701"/>
          </a:xfrm>
          <a:prstGeom prst="rect">
            <a:avLst/>
          </a:prstGeom>
        </p:spPr>
      </p:pic>
      <p:pic>
        <p:nvPicPr>
          <p:cNvPr id="29" name="Graphic 28" descr="Flip calendar outline">
            <a:extLst>
              <a:ext uri="{FF2B5EF4-FFF2-40B4-BE49-F238E27FC236}">
                <a16:creationId xmlns:a16="http://schemas.microsoft.com/office/drawing/2014/main" id="{C833BDC5-1D30-783B-5059-E00D7676CA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8431" y="4020921"/>
            <a:ext cx="707880" cy="70788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5C068FB-6261-1043-244A-CFEF90DE4EFC}"/>
              </a:ext>
            </a:extLst>
          </p:cNvPr>
          <p:cNvSpPr txBox="1"/>
          <p:nvPr/>
        </p:nvSpPr>
        <p:spPr>
          <a:xfrm>
            <a:off x="4808977" y="4698904"/>
            <a:ext cx="1809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1E293B"/>
                </a:solidFill>
              </a:rPr>
              <a:t>AI-Powered Insights for Better Decisions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DFF8F25-23B4-B56F-E897-0863369FD301}"/>
              </a:ext>
            </a:extLst>
          </p:cNvPr>
          <p:cNvCxnSpPr/>
          <p:nvPr/>
        </p:nvCxnSpPr>
        <p:spPr>
          <a:xfrm>
            <a:off x="4608040" y="4194629"/>
            <a:ext cx="0" cy="1027495"/>
          </a:xfrm>
          <a:prstGeom prst="line">
            <a:avLst/>
          </a:prstGeom>
          <a:ln w="12700">
            <a:solidFill>
              <a:srgbClr val="D1D5DB">
                <a:alpha val="7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673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C164C2-2C05-EFA6-F702-F83CA26E4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443835-40ED-D88A-8A07-D80F7FA6E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72" y="-520613"/>
            <a:ext cx="1642976" cy="16429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EB4A1B-B385-7274-1691-417EB76EAC56}"/>
              </a:ext>
            </a:extLst>
          </p:cNvPr>
          <p:cNvSpPr txBox="1"/>
          <p:nvPr/>
        </p:nvSpPr>
        <p:spPr>
          <a:xfrm>
            <a:off x="1817148" y="146986"/>
            <a:ext cx="2790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rgbClr val="D1D5D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CLIENT TELEMETRY AI SYSTEM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F05E31-5925-E159-6C16-30858300590C}"/>
              </a:ext>
            </a:extLst>
          </p:cNvPr>
          <p:cNvCxnSpPr>
            <a:cxnSpLocks/>
          </p:cNvCxnSpPr>
          <p:nvPr/>
        </p:nvCxnSpPr>
        <p:spPr>
          <a:xfrm>
            <a:off x="0" y="566057"/>
            <a:ext cx="1219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3B912F-D271-1EDB-8B78-060D1F7AEB31}"/>
              </a:ext>
            </a:extLst>
          </p:cNvPr>
          <p:cNvCxnSpPr>
            <a:cxnSpLocks/>
          </p:cNvCxnSpPr>
          <p:nvPr/>
        </p:nvCxnSpPr>
        <p:spPr>
          <a:xfrm>
            <a:off x="0" y="6313714"/>
            <a:ext cx="1219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6A06AB9-11AC-D308-A0EF-3F6771BE4E05}"/>
              </a:ext>
            </a:extLst>
          </p:cNvPr>
          <p:cNvSpPr txBox="1"/>
          <p:nvPr/>
        </p:nvSpPr>
        <p:spPr>
          <a:xfrm>
            <a:off x="199717" y="6444621"/>
            <a:ext cx="44083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Vanguard Client Telemetry AI System    |    </a:t>
            </a:r>
            <a:r>
              <a:rPr lang="en-US" sz="1200">
                <a:solidFill>
                  <a:srgbClr val="D1D5D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CI493 Senior Design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7C34B75-26D0-14E7-3EDE-46845C45F907}"/>
              </a:ext>
            </a:extLst>
          </p:cNvPr>
          <p:cNvSpPr/>
          <p:nvPr/>
        </p:nvSpPr>
        <p:spPr>
          <a:xfrm>
            <a:off x="11292114" y="6400240"/>
            <a:ext cx="457200" cy="365760"/>
          </a:xfrm>
          <a:prstGeom prst="roundRect">
            <a:avLst/>
          </a:prstGeom>
          <a:solidFill>
            <a:srgbClr val="C81E3A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90CEC4-FF0D-1264-D81E-4E1202EF7C8A}"/>
              </a:ext>
            </a:extLst>
          </p:cNvPr>
          <p:cNvSpPr/>
          <p:nvPr/>
        </p:nvSpPr>
        <p:spPr>
          <a:xfrm>
            <a:off x="0" y="555179"/>
            <a:ext cx="12191999" cy="57476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B17743-02CA-27FB-4B2F-43D8FB9BF4EA}"/>
              </a:ext>
            </a:extLst>
          </p:cNvPr>
          <p:cNvSpPr txBox="1"/>
          <p:nvPr/>
        </p:nvSpPr>
        <p:spPr>
          <a:xfrm>
            <a:off x="643565" y="1122362"/>
            <a:ext cx="51380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111827"/>
                </a:solidFill>
                <a:latin typeface="+mj-lt"/>
                <a:cs typeface="Segoe UI" panose="020B0502040204020203" pitchFamily="34" charset="0"/>
              </a:rPr>
              <a:t>Meet the Team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641AB5-5AA2-8B1D-7579-1DFF61A6F8B2}"/>
              </a:ext>
            </a:extLst>
          </p:cNvPr>
          <p:cNvSpPr txBox="1"/>
          <p:nvPr/>
        </p:nvSpPr>
        <p:spPr>
          <a:xfrm>
            <a:off x="643565" y="3060551"/>
            <a:ext cx="3343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1E293B"/>
                </a:solidFill>
              </a:rPr>
              <a:t>Our Three-Phase Approach</a:t>
            </a:r>
          </a:p>
        </p:txBody>
      </p:sp>
      <p:pic>
        <p:nvPicPr>
          <p:cNvPr id="12" name="Graphic 11" descr="Database outline">
            <a:extLst>
              <a:ext uri="{FF2B5EF4-FFF2-40B4-BE49-F238E27FC236}">
                <a16:creationId xmlns:a16="http://schemas.microsoft.com/office/drawing/2014/main" id="{DE18E666-4E7F-EC47-CCF2-1E2099C6E3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802" y="3658069"/>
            <a:ext cx="504276" cy="504276"/>
          </a:xfrm>
          <a:prstGeom prst="rect">
            <a:avLst/>
          </a:prstGeom>
        </p:spPr>
      </p:pic>
      <p:pic>
        <p:nvPicPr>
          <p:cNvPr id="14" name="Graphic 13" descr="Artificial Intelligence outline">
            <a:extLst>
              <a:ext uri="{FF2B5EF4-FFF2-40B4-BE49-F238E27FC236}">
                <a16:creationId xmlns:a16="http://schemas.microsoft.com/office/drawing/2014/main" id="{9E303B1B-4463-1325-AD85-EB2A70BDE4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3565" y="4299073"/>
            <a:ext cx="504276" cy="504276"/>
          </a:xfrm>
          <a:prstGeom prst="rect">
            <a:avLst/>
          </a:prstGeom>
        </p:spPr>
      </p:pic>
      <p:pic>
        <p:nvPicPr>
          <p:cNvPr id="16" name="Graphic 15" descr="Illustrator outline">
            <a:extLst>
              <a:ext uri="{FF2B5EF4-FFF2-40B4-BE49-F238E27FC236}">
                <a16:creationId xmlns:a16="http://schemas.microsoft.com/office/drawing/2014/main" id="{60E2DB0D-B26D-40BA-DC7E-723277563B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3565" y="4934255"/>
            <a:ext cx="504276" cy="50427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48C372C-2723-13D2-DC40-DCF3E48A13DA}"/>
              </a:ext>
            </a:extLst>
          </p:cNvPr>
          <p:cNvSpPr txBox="1"/>
          <p:nvPr/>
        </p:nvSpPr>
        <p:spPr>
          <a:xfrm>
            <a:off x="1134078" y="3704578"/>
            <a:ext cx="2443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chemeClr val="accent1"/>
                </a:solidFill>
              </a:rPr>
              <a:t>Phase 1</a:t>
            </a:r>
          </a:p>
          <a:p>
            <a:r>
              <a:rPr lang="en-US" sz="1400"/>
              <a:t>Telemetry &amp; Data Pipeline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50B575-FAD3-D2A1-97EB-A92585427A04}"/>
              </a:ext>
            </a:extLst>
          </p:cNvPr>
          <p:cNvSpPr txBox="1"/>
          <p:nvPr/>
        </p:nvSpPr>
        <p:spPr>
          <a:xfrm>
            <a:off x="1134078" y="4342446"/>
            <a:ext cx="2443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C000"/>
                </a:solidFill>
              </a:rPr>
              <a:t>Phase 2</a:t>
            </a:r>
          </a:p>
          <a:p>
            <a:r>
              <a:rPr lang="en-US" sz="1400"/>
              <a:t>AI &amp; Model Engineering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67EAB8C-74B1-9AB4-47DE-07ED4A323705}"/>
              </a:ext>
            </a:extLst>
          </p:cNvPr>
          <p:cNvSpPr txBox="1"/>
          <p:nvPr/>
        </p:nvSpPr>
        <p:spPr>
          <a:xfrm>
            <a:off x="1182297" y="4947588"/>
            <a:ext cx="2443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Phase 3</a:t>
            </a:r>
          </a:p>
          <a:p>
            <a:r>
              <a:rPr lang="en-US" sz="1400"/>
              <a:t>Dashboard &amp; Visualization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72347C-66B6-43EF-2B7C-F2282D112310}"/>
              </a:ext>
            </a:extLst>
          </p:cNvPr>
          <p:cNvSpPr txBox="1"/>
          <p:nvPr/>
        </p:nvSpPr>
        <p:spPr>
          <a:xfrm>
            <a:off x="9306152" y="4604056"/>
            <a:ext cx="244316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1E293B"/>
                </a:solidFill>
              </a:rPr>
              <a:t>Guanxin Zheng</a:t>
            </a:r>
          </a:p>
          <a:p>
            <a:pPr algn="ctr"/>
            <a:r>
              <a:rPr lang="en-US" sz="1400"/>
              <a:t>Telemetry &amp; Data Pipeline</a:t>
            </a:r>
          </a:p>
          <a:p>
            <a:pPr algn="ctr"/>
            <a:r>
              <a:rPr lang="en-US" sz="1400" b="1">
                <a:solidFill>
                  <a:schemeClr val="accent1"/>
                </a:solidFill>
              </a:rPr>
              <a:t>Phase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841163-C649-BB26-088C-6E0CC9214BD8}"/>
              </a:ext>
            </a:extLst>
          </p:cNvPr>
          <p:cNvSpPr txBox="1"/>
          <p:nvPr/>
        </p:nvSpPr>
        <p:spPr>
          <a:xfrm>
            <a:off x="7015389" y="4604056"/>
            <a:ext cx="244316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err="1">
                <a:solidFill>
                  <a:srgbClr val="1E293B"/>
                </a:solidFill>
              </a:rPr>
              <a:t>Shengyang</a:t>
            </a:r>
            <a:r>
              <a:rPr lang="en-US" sz="1400" b="1">
                <a:solidFill>
                  <a:srgbClr val="1E293B"/>
                </a:solidFill>
              </a:rPr>
              <a:t> Dong</a:t>
            </a:r>
          </a:p>
          <a:p>
            <a:pPr algn="ctr"/>
            <a:r>
              <a:rPr lang="en-US" sz="1400"/>
              <a:t>Telemetry &amp; Data Pipeline</a:t>
            </a:r>
          </a:p>
          <a:p>
            <a:pPr algn="ctr"/>
            <a:r>
              <a:rPr lang="en-US" sz="1400" b="1">
                <a:solidFill>
                  <a:schemeClr val="accent1"/>
                </a:solidFill>
              </a:rPr>
              <a:t>Phase 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8BA1C6-7028-E247-6F01-03A2B1A5CC9F}"/>
              </a:ext>
            </a:extLst>
          </p:cNvPr>
          <p:cNvSpPr txBox="1"/>
          <p:nvPr/>
        </p:nvSpPr>
        <p:spPr>
          <a:xfrm>
            <a:off x="4962158" y="4604056"/>
            <a:ext cx="20532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1E293B"/>
                </a:solidFill>
              </a:rPr>
              <a:t>Junkai Ge</a:t>
            </a:r>
          </a:p>
          <a:p>
            <a:pPr algn="ctr"/>
            <a:r>
              <a:rPr lang="en-US" sz="1400"/>
              <a:t>AI &amp; Model Engineering</a:t>
            </a:r>
          </a:p>
          <a:p>
            <a:pPr algn="ctr"/>
            <a:r>
              <a:rPr lang="en-US" sz="1400" b="1">
                <a:solidFill>
                  <a:srgbClr val="FFC000"/>
                </a:solidFill>
              </a:rPr>
              <a:t>Phase 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BAD4F3-343E-8CA8-638F-F79084B558DE}"/>
              </a:ext>
            </a:extLst>
          </p:cNvPr>
          <p:cNvSpPr txBox="1"/>
          <p:nvPr/>
        </p:nvSpPr>
        <p:spPr>
          <a:xfrm>
            <a:off x="9501118" y="2215725"/>
            <a:ext cx="20532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1E293B"/>
                </a:solidFill>
              </a:rPr>
              <a:t>Manish Gurung</a:t>
            </a:r>
          </a:p>
          <a:p>
            <a:pPr algn="ctr"/>
            <a:r>
              <a:rPr lang="en-US" sz="1400"/>
              <a:t>AI &amp; Model Engineering</a:t>
            </a:r>
          </a:p>
          <a:p>
            <a:pPr algn="ctr"/>
            <a:r>
              <a:rPr lang="en-US" sz="1400" b="1">
                <a:solidFill>
                  <a:srgbClr val="FFC000"/>
                </a:solidFill>
              </a:rPr>
              <a:t>Phase 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4DF18F-BF2B-62C0-03DC-404290FA07B8}"/>
              </a:ext>
            </a:extLst>
          </p:cNvPr>
          <p:cNvSpPr txBox="1"/>
          <p:nvPr/>
        </p:nvSpPr>
        <p:spPr>
          <a:xfrm>
            <a:off x="7015388" y="2215725"/>
            <a:ext cx="244316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1E293B"/>
                </a:solidFill>
              </a:rPr>
              <a:t>Geri Koka</a:t>
            </a:r>
          </a:p>
          <a:p>
            <a:pPr algn="ctr"/>
            <a:r>
              <a:rPr lang="en-US" sz="1400"/>
              <a:t>Dashboard &amp; Visualization</a:t>
            </a:r>
          </a:p>
          <a:p>
            <a:pPr algn="ctr"/>
            <a:r>
              <a:rPr lang="en-US" sz="1400" b="1">
                <a:solidFill>
                  <a:srgbClr val="FF0000"/>
                </a:solidFill>
              </a:rPr>
              <a:t>Phase 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639474-AE8F-B507-328A-476F09E8C548}"/>
              </a:ext>
            </a:extLst>
          </p:cNvPr>
          <p:cNvSpPr txBox="1"/>
          <p:nvPr/>
        </p:nvSpPr>
        <p:spPr>
          <a:xfrm>
            <a:off x="4767192" y="2215356"/>
            <a:ext cx="244316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1E293B"/>
                </a:solidFill>
              </a:rPr>
              <a:t>Sabrina Akter</a:t>
            </a:r>
          </a:p>
          <a:p>
            <a:pPr algn="ctr"/>
            <a:r>
              <a:rPr lang="en-US" sz="1400"/>
              <a:t>Dashboard &amp; Visualization</a:t>
            </a:r>
          </a:p>
          <a:p>
            <a:pPr algn="ctr"/>
            <a:r>
              <a:rPr lang="en-US" sz="1400" b="1">
                <a:solidFill>
                  <a:srgbClr val="FF0000"/>
                </a:solidFill>
              </a:rPr>
              <a:t>Phase 3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D5FDB05-6B3C-5D2F-CCD1-56A3C020B0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5348" y="795723"/>
            <a:ext cx="1103242" cy="1388414"/>
          </a:xfrm>
          <a:prstGeom prst="rect">
            <a:avLst/>
          </a:prstGeom>
        </p:spPr>
      </p:pic>
      <p:pic>
        <p:nvPicPr>
          <p:cNvPr id="8" name="Picture 7" descr="A person standing on a stone ledge next to a bridge&#10;&#10;AI-generated content may be incorrect.">
            <a:extLst>
              <a:ext uri="{FF2B5EF4-FFF2-40B4-BE49-F238E27FC236}">
                <a16:creationId xmlns:a16="http://schemas.microsoft.com/office/drawing/2014/main" id="{FA63BDA2-A523-C3F7-D50E-4024BC31BC3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7473" t="24978" r="32579" b="46041"/>
          <a:stretch>
            <a:fillRect/>
          </a:stretch>
        </p:blipFill>
        <p:spPr>
          <a:xfrm>
            <a:off x="5437152" y="787202"/>
            <a:ext cx="1103242" cy="1422708"/>
          </a:xfrm>
          <a:prstGeom prst="rect">
            <a:avLst/>
          </a:prstGeom>
        </p:spPr>
      </p:pic>
      <p:pic>
        <p:nvPicPr>
          <p:cNvPr id="15" name="图片 14" descr="穿着西装的男人&#10;&#10;AI 生成的内容可能不正确。">
            <a:extLst>
              <a:ext uri="{FF2B5EF4-FFF2-40B4-BE49-F238E27FC236}">
                <a16:creationId xmlns:a16="http://schemas.microsoft.com/office/drawing/2014/main" id="{B9C8FFDE-889B-B502-2940-E880789209E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70357" y="3052661"/>
            <a:ext cx="1218233" cy="1501187"/>
          </a:xfrm>
          <a:prstGeom prst="rect">
            <a:avLst/>
          </a:prstGeom>
        </p:spPr>
      </p:pic>
      <p:pic>
        <p:nvPicPr>
          <p:cNvPr id="18" name="Picture 17" descr="A person in a suit and tie&#10;&#10;AI-generated content may be incorrect.">
            <a:extLst>
              <a:ext uri="{FF2B5EF4-FFF2-40B4-BE49-F238E27FC236}">
                <a16:creationId xmlns:a16="http://schemas.microsoft.com/office/drawing/2014/main" id="{AA6E46C4-529F-5ED6-7C3E-3BB50037EB31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2418" t="74" r="14103" b="-294"/>
          <a:stretch>
            <a:fillRect/>
          </a:stretch>
        </p:blipFill>
        <p:spPr>
          <a:xfrm>
            <a:off x="5363797" y="3062376"/>
            <a:ext cx="1239820" cy="1566044"/>
          </a:xfrm>
          <a:prstGeom prst="rect">
            <a:avLst/>
          </a:prstGeom>
        </p:spPr>
      </p:pic>
      <p:pic>
        <p:nvPicPr>
          <p:cNvPr id="17" name="Picture 16" descr="A person standing in front of a bridge&#10;&#10;AI-generated content may be incorrect.">
            <a:extLst>
              <a:ext uri="{FF2B5EF4-FFF2-40B4-BE49-F238E27FC236}">
                <a16:creationId xmlns:a16="http://schemas.microsoft.com/office/drawing/2014/main" id="{A6101FA7-311D-56E1-6B84-484A2978A387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3978" t="-730" r="11290" b="-1009"/>
          <a:stretch>
            <a:fillRect/>
          </a:stretch>
        </p:blipFill>
        <p:spPr>
          <a:xfrm>
            <a:off x="9885090" y="806642"/>
            <a:ext cx="1288215" cy="141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176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BC9B28-E1BC-3BBB-7623-3352D4588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8948C3-E43B-5083-F6EC-E6EC393FD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72" y="-520613"/>
            <a:ext cx="1642976" cy="16429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62B98F-02EC-5A64-2B35-801396F8BA59}"/>
              </a:ext>
            </a:extLst>
          </p:cNvPr>
          <p:cNvSpPr txBox="1"/>
          <p:nvPr/>
        </p:nvSpPr>
        <p:spPr>
          <a:xfrm>
            <a:off x="1817148" y="146986"/>
            <a:ext cx="2790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rgbClr val="D1D5D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CLIENT TELEMETRY AI SYSTEM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46A9039-48F6-16AE-8908-927960E2BB76}"/>
              </a:ext>
            </a:extLst>
          </p:cNvPr>
          <p:cNvCxnSpPr>
            <a:cxnSpLocks/>
          </p:cNvCxnSpPr>
          <p:nvPr/>
        </p:nvCxnSpPr>
        <p:spPr>
          <a:xfrm>
            <a:off x="0" y="566057"/>
            <a:ext cx="1219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2B5D059-C28E-FE0F-340C-A611DC17C520}"/>
              </a:ext>
            </a:extLst>
          </p:cNvPr>
          <p:cNvCxnSpPr>
            <a:cxnSpLocks/>
          </p:cNvCxnSpPr>
          <p:nvPr/>
        </p:nvCxnSpPr>
        <p:spPr>
          <a:xfrm>
            <a:off x="0" y="6313714"/>
            <a:ext cx="1219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70B7382-AEA1-6BDA-4690-A3EBAC2884AE}"/>
              </a:ext>
            </a:extLst>
          </p:cNvPr>
          <p:cNvSpPr txBox="1"/>
          <p:nvPr/>
        </p:nvSpPr>
        <p:spPr>
          <a:xfrm>
            <a:off x="199717" y="6444621"/>
            <a:ext cx="44083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Vanguard Client Telemetry AI System    |    </a:t>
            </a:r>
            <a:r>
              <a:rPr lang="en-US" sz="1200">
                <a:solidFill>
                  <a:srgbClr val="D1D5D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CI493 Senior Design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F1AA1D6-DAC8-A242-F2A6-F537DAFED49C}"/>
              </a:ext>
            </a:extLst>
          </p:cNvPr>
          <p:cNvSpPr/>
          <p:nvPr/>
        </p:nvSpPr>
        <p:spPr>
          <a:xfrm>
            <a:off x="11292114" y="6400240"/>
            <a:ext cx="457200" cy="365760"/>
          </a:xfrm>
          <a:prstGeom prst="roundRect">
            <a:avLst/>
          </a:prstGeom>
          <a:solidFill>
            <a:srgbClr val="C81E3A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950819-0FE2-2723-01C0-B524ABF6BF4F}"/>
              </a:ext>
            </a:extLst>
          </p:cNvPr>
          <p:cNvSpPr/>
          <p:nvPr/>
        </p:nvSpPr>
        <p:spPr>
          <a:xfrm>
            <a:off x="0" y="555179"/>
            <a:ext cx="12191999" cy="57476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323948-DF8F-37CB-FD80-8D1225BA572C}"/>
              </a:ext>
            </a:extLst>
          </p:cNvPr>
          <p:cNvSpPr txBox="1"/>
          <p:nvPr/>
        </p:nvSpPr>
        <p:spPr>
          <a:xfrm>
            <a:off x="432192" y="768419"/>
            <a:ext cx="5138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111827"/>
                </a:solidFill>
                <a:latin typeface="+mj-lt"/>
                <a:cs typeface="Segoe UI" panose="020B050204020402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D3B165-862A-7A9A-F2E8-C5DAC9C742E6}"/>
              </a:ext>
            </a:extLst>
          </p:cNvPr>
          <p:cNvSpPr txBox="1"/>
          <p:nvPr/>
        </p:nvSpPr>
        <p:spPr>
          <a:xfrm>
            <a:off x="432192" y="1445707"/>
            <a:ext cx="10859922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1E293B"/>
                </a:solidFill>
              </a:rPr>
              <a:t>Modern financial platforms generate massive amounts of user interaction data across web, mobile, and support channels.</a:t>
            </a:r>
          </a:p>
          <a:p>
            <a:endParaRPr lang="en-US" sz="1600">
              <a:solidFill>
                <a:srgbClr val="1E293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E293B"/>
                </a:solidFill>
              </a:rPr>
              <a:t>Most client sessions are completed successfully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E293B"/>
                </a:solidFill>
              </a:rPr>
              <a:t>A small subset of sessions (“tail experiences”) contain unusually high friction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1E293B"/>
                </a:solidFill>
              </a:rPr>
              <a:t>These sessions may include: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E293B"/>
                </a:solidFill>
              </a:rPr>
              <a:t>rage clicks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E293B"/>
                </a:solidFill>
              </a:rPr>
              <a:t>navigation loops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E293B"/>
                </a:solidFill>
              </a:rPr>
              <a:t>repeated errors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E293B"/>
                </a:solidFill>
              </a:rPr>
              <a:t>failed workflows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1E293B"/>
                </a:solidFill>
              </a:rPr>
              <a:t>High-frustration experiences negatively impact: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E293B"/>
                </a:solidFill>
              </a:rPr>
              <a:t>customer satisfaction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E293B"/>
                </a:solidFill>
              </a:rPr>
              <a:t>trust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E293B"/>
                </a:solidFill>
              </a:rPr>
              <a:t>platform perception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E293B"/>
                </a:solidFill>
              </a:rPr>
              <a:t>Identifying these sessions in real time is difficult due to the scale and complexity of telemetry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>
              <a:solidFill>
                <a:srgbClr val="1E293B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78EB28-4816-5775-6194-492F18D3D26A}"/>
              </a:ext>
            </a:extLst>
          </p:cNvPr>
          <p:cNvSpPr/>
          <p:nvPr/>
        </p:nvSpPr>
        <p:spPr>
          <a:xfrm>
            <a:off x="432192" y="5338771"/>
            <a:ext cx="8116723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rgbClr val="FF0000"/>
                </a:solidFill>
              </a:rPr>
              <a:t>Key Goal</a:t>
            </a:r>
          </a:p>
          <a:p>
            <a:r>
              <a:rPr lang="en-US" sz="1600">
                <a:solidFill>
                  <a:srgbClr val="1E293B"/>
                </a:solidFill>
              </a:rPr>
              <a:t>Detect high-frustration user experiences using </a:t>
            </a:r>
            <a:r>
              <a:rPr lang="en-US" sz="1600" b="1">
                <a:solidFill>
                  <a:srgbClr val="1E293B"/>
                </a:solidFill>
              </a:rPr>
              <a:t>synthetic telemetry and AI-driven scoring.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A6EABE-CC22-5B42-9683-7AC16F220E9C}"/>
              </a:ext>
            </a:extLst>
          </p:cNvPr>
          <p:cNvCxnSpPr/>
          <p:nvPr/>
        </p:nvCxnSpPr>
        <p:spPr>
          <a:xfrm>
            <a:off x="432192" y="5338771"/>
            <a:ext cx="0" cy="646331"/>
          </a:xfrm>
          <a:prstGeom prst="line">
            <a:avLst/>
          </a:prstGeom>
          <a:ln>
            <a:solidFill>
              <a:srgbClr val="C81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3477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FA78FC-1C59-071C-F418-6D57F2C7D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8487DD-F03D-B76E-02C9-FBE6C4E3C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72" y="-520613"/>
            <a:ext cx="1642976" cy="16429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F052C2-AF76-8914-53F3-1CC629132A3D}"/>
              </a:ext>
            </a:extLst>
          </p:cNvPr>
          <p:cNvSpPr txBox="1"/>
          <p:nvPr/>
        </p:nvSpPr>
        <p:spPr>
          <a:xfrm>
            <a:off x="1817148" y="146986"/>
            <a:ext cx="2790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rgbClr val="D1D5D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CLIENT TELEMETRY AI SYSTEM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14A2302-A640-B812-D84E-1E4901DBC528}"/>
              </a:ext>
            </a:extLst>
          </p:cNvPr>
          <p:cNvCxnSpPr>
            <a:cxnSpLocks/>
          </p:cNvCxnSpPr>
          <p:nvPr/>
        </p:nvCxnSpPr>
        <p:spPr>
          <a:xfrm>
            <a:off x="0" y="566057"/>
            <a:ext cx="1219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7DFEFB3-FC08-52CD-1A92-2F0F37199502}"/>
              </a:ext>
            </a:extLst>
          </p:cNvPr>
          <p:cNvCxnSpPr>
            <a:cxnSpLocks/>
          </p:cNvCxnSpPr>
          <p:nvPr/>
        </p:nvCxnSpPr>
        <p:spPr>
          <a:xfrm>
            <a:off x="0" y="6313714"/>
            <a:ext cx="1219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CFBE141-F16B-694A-9581-BF6F73321588}"/>
              </a:ext>
            </a:extLst>
          </p:cNvPr>
          <p:cNvSpPr txBox="1"/>
          <p:nvPr/>
        </p:nvSpPr>
        <p:spPr>
          <a:xfrm>
            <a:off x="199717" y="6444621"/>
            <a:ext cx="44083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Vanguard Client Telemetry AI System    |    </a:t>
            </a:r>
            <a:r>
              <a:rPr lang="en-US" sz="1200">
                <a:solidFill>
                  <a:srgbClr val="D1D5D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CI493 Senior Design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E5D4C90-64C0-F840-7DBA-65345AB31FD6}"/>
              </a:ext>
            </a:extLst>
          </p:cNvPr>
          <p:cNvSpPr/>
          <p:nvPr/>
        </p:nvSpPr>
        <p:spPr>
          <a:xfrm>
            <a:off x="11292114" y="6400240"/>
            <a:ext cx="457200" cy="365760"/>
          </a:xfrm>
          <a:prstGeom prst="roundRect">
            <a:avLst/>
          </a:prstGeom>
          <a:solidFill>
            <a:srgbClr val="C81E3A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47BD1D-B91D-D239-AD9B-BECF807208BE}"/>
              </a:ext>
            </a:extLst>
          </p:cNvPr>
          <p:cNvSpPr/>
          <p:nvPr/>
        </p:nvSpPr>
        <p:spPr>
          <a:xfrm>
            <a:off x="0" y="555179"/>
            <a:ext cx="12191999" cy="57476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EAA04F-F996-76B1-AE26-F686A3C22CB5}"/>
              </a:ext>
            </a:extLst>
          </p:cNvPr>
          <p:cNvSpPr txBox="1"/>
          <p:nvPr/>
        </p:nvSpPr>
        <p:spPr>
          <a:xfrm>
            <a:off x="466076" y="767799"/>
            <a:ext cx="5138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111827"/>
                </a:solidFill>
                <a:latin typeface="+mj-lt"/>
                <a:cs typeface="Segoe UI" panose="020B0502040204020203" pitchFamily="34" charset="0"/>
              </a:rPr>
              <a:t>Project 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4A64B3-A3AE-A36E-86F9-F7780E54F32B}"/>
              </a:ext>
            </a:extLst>
          </p:cNvPr>
          <p:cNvSpPr txBox="1"/>
          <p:nvPr/>
        </p:nvSpPr>
        <p:spPr>
          <a:xfrm>
            <a:off x="466076" y="1514546"/>
            <a:ext cx="10564537" cy="403809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sz="1600">
              <a:solidFill>
                <a:srgbClr val="1E293B"/>
              </a:solidFill>
            </a:endParaRPr>
          </a:p>
          <a:p>
            <a:pPr marL="45720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1E293B"/>
                </a:solidFill>
                <a:ea typeface="+mn-lt"/>
                <a:cs typeface="+mn-lt"/>
              </a:rPr>
              <a:t>Detect high-frustration client sessions using synthetic telemetry data and AI-driven scoring</a:t>
            </a:r>
          </a:p>
          <a:p>
            <a:pPr marL="45720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1E293B"/>
                </a:solidFill>
                <a:ea typeface="+mn-lt"/>
                <a:cs typeface="+mn-lt"/>
              </a:rPr>
              <a:t>Transform raw user behavior data into structured session-level features for analysis</a:t>
            </a:r>
            <a:endParaRPr lang="en-US">
              <a:solidFill>
                <a:srgbClr val="1E293B"/>
              </a:solidFill>
            </a:endParaRPr>
          </a:p>
          <a:p>
            <a:pPr marL="45720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1E293B"/>
                </a:solidFill>
                <a:ea typeface="+mn-lt"/>
                <a:cs typeface="+mn-lt"/>
              </a:rPr>
              <a:t>Use an ensemble model (Autoencoder + Isolation Forest) to generate frustration scores and severity levels</a:t>
            </a:r>
            <a:endParaRPr lang="en-US" b="1">
              <a:solidFill>
                <a:srgbClr val="1E293B"/>
              </a:solidFill>
              <a:ea typeface="+mn-lt"/>
              <a:cs typeface="+mn-lt"/>
            </a:endParaRPr>
          </a:p>
          <a:p>
            <a:pPr marL="45720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1E293B"/>
                </a:solidFill>
                <a:ea typeface="+mn-lt"/>
                <a:cs typeface="+mn-lt"/>
              </a:rPr>
              <a:t>Deploy automated scoring and monitoring with AWS SageMaker, S3, Lambda, and </a:t>
            </a:r>
            <a:r>
              <a:rPr lang="en-US" err="1">
                <a:solidFill>
                  <a:srgbClr val="1E293B"/>
                </a:solidFill>
                <a:ea typeface="+mn-lt"/>
                <a:cs typeface="+mn-lt"/>
              </a:rPr>
              <a:t>EventBridge</a:t>
            </a:r>
            <a:endParaRPr lang="en-US">
              <a:solidFill>
                <a:srgbClr val="1E293B"/>
              </a:solidFill>
              <a:ea typeface="+mn-lt"/>
              <a:cs typeface="+mn-lt"/>
            </a:endParaRPr>
          </a:p>
          <a:p>
            <a:pPr marL="45720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1E293B"/>
                </a:solidFill>
                <a:ea typeface="+mn-lt"/>
                <a:cs typeface="+mn-lt"/>
              </a:rPr>
              <a:t>Deploy the scoring system using AWS SageMaker, S3, Lambda, and </a:t>
            </a:r>
            <a:r>
              <a:rPr lang="en-US" err="1">
                <a:solidFill>
                  <a:srgbClr val="1E293B"/>
                </a:solidFill>
                <a:ea typeface="+mn-lt"/>
                <a:cs typeface="+mn-lt"/>
              </a:rPr>
              <a:t>EventBridge</a:t>
            </a:r>
            <a:r>
              <a:rPr lang="en-US">
                <a:solidFill>
                  <a:srgbClr val="1E293B"/>
                </a:solidFill>
                <a:ea typeface="+mn-lt"/>
                <a:cs typeface="+mn-lt"/>
              </a:rPr>
              <a:t> to support automated model execution, scalable inference, and real-time monitoring</a:t>
            </a:r>
            <a:endParaRPr lang="en-US"/>
          </a:p>
          <a:p>
            <a:pPr marL="45720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1E293B"/>
                </a:solidFill>
                <a:ea typeface="+mn-lt"/>
                <a:cs typeface="+mn-lt"/>
              </a:rPr>
              <a:t>Visualize sessions, alerts, and admin feedback through a centralized dashboard for better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1640199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2B15EF-280F-8062-ADCA-31270307F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2E5188-AB08-A558-9681-0CF38319D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72" y="-520613"/>
            <a:ext cx="1642976" cy="16429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9B51E9-F2C5-B6A7-671A-3F1AADFA4EE7}"/>
              </a:ext>
            </a:extLst>
          </p:cNvPr>
          <p:cNvSpPr txBox="1"/>
          <p:nvPr/>
        </p:nvSpPr>
        <p:spPr>
          <a:xfrm>
            <a:off x="1817148" y="146986"/>
            <a:ext cx="2790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rgbClr val="D1D5D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CLIENT TELEMETRY AI SYSTEM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C429908-F6F7-F300-9B2E-83893FCD9A27}"/>
              </a:ext>
            </a:extLst>
          </p:cNvPr>
          <p:cNvCxnSpPr>
            <a:cxnSpLocks/>
          </p:cNvCxnSpPr>
          <p:nvPr/>
        </p:nvCxnSpPr>
        <p:spPr>
          <a:xfrm>
            <a:off x="0" y="566057"/>
            <a:ext cx="1219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CC02786-9D2F-82B6-C684-754B866C0BC4}"/>
              </a:ext>
            </a:extLst>
          </p:cNvPr>
          <p:cNvCxnSpPr>
            <a:cxnSpLocks/>
          </p:cNvCxnSpPr>
          <p:nvPr/>
        </p:nvCxnSpPr>
        <p:spPr>
          <a:xfrm>
            <a:off x="0" y="6313714"/>
            <a:ext cx="1219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3C970A3-8294-41CA-A173-BF6263C0B003}"/>
              </a:ext>
            </a:extLst>
          </p:cNvPr>
          <p:cNvSpPr txBox="1"/>
          <p:nvPr/>
        </p:nvSpPr>
        <p:spPr>
          <a:xfrm>
            <a:off x="199717" y="6444621"/>
            <a:ext cx="44083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Vanguard Client Telemetry AI System    |    </a:t>
            </a:r>
            <a:r>
              <a:rPr lang="en-US" sz="1200">
                <a:solidFill>
                  <a:srgbClr val="D1D5D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CI493 Senior Design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9035402-B20F-83B1-2DB2-155A3FC048E6}"/>
              </a:ext>
            </a:extLst>
          </p:cNvPr>
          <p:cNvSpPr/>
          <p:nvPr/>
        </p:nvSpPr>
        <p:spPr>
          <a:xfrm>
            <a:off x="11292114" y="6400240"/>
            <a:ext cx="457200" cy="365760"/>
          </a:xfrm>
          <a:prstGeom prst="roundRect">
            <a:avLst/>
          </a:prstGeom>
          <a:solidFill>
            <a:srgbClr val="C81E3A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D78DEE-784E-08C5-6B07-E49D7C147333}"/>
              </a:ext>
            </a:extLst>
          </p:cNvPr>
          <p:cNvSpPr/>
          <p:nvPr/>
        </p:nvSpPr>
        <p:spPr>
          <a:xfrm>
            <a:off x="0" y="555179"/>
            <a:ext cx="12191999" cy="57476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04894F-3D16-6FF8-C0D1-FEAC49B63A4A}"/>
              </a:ext>
            </a:extLst>
          </p:cNvPr>
          <p:cNvSpPr txBox="1"/>
          <p:nvPr/>
        </p:nvSpPr>
        <p:spPr>
          <a:xfrm>
            <a:off x="4277093" y="553198"/>
            <a:ext cx="3859873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>
                <a:solidFill>
                  <a:srgbClr val="111827"/>
                </a:solidFill>
                <a:latin typeface="+mj-lt"/>
                <a:cs typeface="Segoe UI"/>
              </a:rPr>
              <a:t>High-Level Architecture Diagram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F113765-BF84-4367-C728-CD6417576F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1283" y="950974"/>
            <a:ext cx="11025232" cy="5222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975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152EED-C811-F36C-919A-4B85B0579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FF72BB-DE75-71C0-1BB8-434B1C132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72" y="-520613"/>
            <a:ext cx="1642976" cy="16429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F61E0F-4971-8F40-7892-8D67ED620065}"/>
              </a:ext>
            </a:extLst>
          </p:cNvPr>
          <p:cNvSpPr txBox="1"/>
          <p:nvPr/>
        </p:nvSpPr>
        <p:spPr>
          <a:xfrm>
            <a:off x="1817148" y="146986"/>
            <a:ext cx="2790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rgbClr val="D1D5D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CLIENT TELEMETRY AI SYSTEM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9A524A-E84A-574F-659D-8593830AC7DD}"/>
              </a:ext>
            </a:extLst>
          </p:cNvPr>
          <p:cNvCxnSpPr>
            <a:cxnSpLocks/>
          </p:cNvCxnSpPr>
          <p:nvPr/>
        </p:nvCxnSpPr>
        <p:spPr>
          <a:xfrm>
            <a:off x="0" y="566057"/>
            <a:ext cx="1219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240BF4F-B51A-E368-24D0-116434B061A4}"/>
              </a:ext>
            </a:extLst>
          </p:cNvPr>
          <p:cNvCxnSpPr>
            <a:cxnSpLocks/>
          </p:cNvCxnSpPr>
          <p:nvPr/>
        </p:nvCxnSpPr>
        <p:spPr>
          <a:xfrm>
            <a:off x="0" y="6313714"/>
            <a:ext cx="1219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0718793-C0F6-30F0-81CB-223F47234BDD}"/>
              </a:ext>
            </a:extLst>
          </p:cNvPr>
          <p:cNvSpPr txBox="1"/>
          <p:nvPr/>
        </p:nvSpPr>
        <p:spPr>
          <a:xfrm>
            <a:off x="199717" y="6444621"/>
            <a:ext cx="44083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Vanguard Client Telemetry AI System    |    </a:t>
            </a:r>
            <a:r>
              <a:rPr lang="en-US" sz="1200">
                <a:solidFill>
                  <a:srgbClr val="D1D5D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CI493 Senior Design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AEA3F6C-048D-D89A-4A7B-267AF3CB5AA2}"/>
              </a:ext>
            </a:extLst>
          </p:cNvPr>
          <p:cNvSpPr/>
          <p:nvPr/>
        </p:nvSpPr>
        <p:spPr>
          <a:xfrm>
            <a:off x="11292114" y="6400240"/>
            <a:ext cx="457200" cy="365760"/>
          </a:xfrm>
          <a:prstGeom prst="roundRect">
            <a:avLst/>
          </a:prstGeom>
          <a:solidFill>
            <a:srgbClr val="C81E3A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423998-6B6F-C151-B1A3-F6E7784B3C45}"/>
              </a:ext>
            </a:extLst>
          </p:cNvPr>
          <p:cNvSpPr/>
          <p:nvPr/>
        </p:nvSpPr>
        <p:spPr>
          <a:xfrm>
            <a:off x="0" y="555179"/>
            <a:ext cx="12191999" cy="57476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1540CB-73C1-7A99-C41E-874E02AF10F4}"/>
              </a:ext>
            </a:extLst>
          </p:cNvPr>
          <p:cNvSpPr txBox="1"/>
          <p:nvPr/>
        </p:nvSpPr>
        <p:spPr>
          <a:xfrm>
            <a:off x="432192" y="768419"/>
            <a:ext cx="477771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>
                <a:solidFill>
                  <a:srgbClr val="000000"/>
                </a:solidFill>
                <a:latin typeface="Aptos"/>
                <a:cs typeface="Segoe UI" panose="020B0502040204020203" pitchFamily="34" charset="0"/>
              </a:rPr>
              <a:t> 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BA7027-581A-7D99-6D00-FC1AB927662E}"/>
              </a:ext>
            </a:extLst>
          </p:cNvPr>
          <p:cNvSpPr txBox="1"/>
          <p:nvPr/>
        </p:nvSpPr>
        <p:spPr>
          <a:xfrm>
            <a:off x="201543" y="768626"/>
            <a:ext cx="3424858" cy="54476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Phase 1 - Overview</a:t>
            </a:r>
          </a:p>
          <a:p>
            <a:r>
              <a:rPr lang="en-US" sz="1600">
                <a:ea typeface="+mn-lt"/>
                <a:cs typeface="+mn-lt"/>
              </a:rPr>
              <a:t>Phase 1 focuses on building the end-to-end telemetry generation pipeline within a fully isolated mock environment. Synthetic user interactions are generated, captured as behavioral telemetry, and synchronized to AWS S3 for downstream machine learning and analytics.</a:t>
            </a:r>
          </a:p>
          <a:p>
            <a:r>
              <a:rPr lang="en-US" sz="1600"/>
              <a:t>Key Objectives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Simulate realistic client behaviors at scale 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Capture friction and interaction telemetry 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Build a scalable ingestion pipeline 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Prepare structured data for AI analysis</a:t>
            </a:r>
          </a:p>
          <a:p>
            <a:pPr algn="l"/>
            <a:endParaRPr lang="en-US" sz="1600"/>
          </a:p>
          <a:p>
            <a:endParaRPr lang="en-US" sz="1600"/>
          </a:p>
        </p:txBody>
      </p:sp>
      <p:pic>
        <p:nvPicPr>
          <p:cNvPr id="16" name="Picture 15" descr="A diagram of a process&#10;&#10;AI-generated content may be incorrect.">
            <a:extLst>
              <a:ext uri="{FF2B5EF4-FFF2-40B4-BE49-F238E27FC236}">
                <a16:creationId xmlns:a16="http://schemas.microsoft.com/office/drawing/2014/main" id="{EC6A3255-1F40-A0B7-BDF1-3F8B02D6DA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150" y="584200"/>
            <a:ext cx="8337550" cy="554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961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698D6B-D1DF-6B7F-518E-5351CC0D8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BF655B-847F-EE54-B6D0-E4BBE0517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72" y="-520613"/>
            <a:ext cx="1642976" cy="16429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6F8448-BEA0-7B3B-DEB1-3CEE764F71B5}"/>
              </a:ext>
            </a:extLst>
          </p:cNvPr>
          <p:cNvSpPr txBox="1"/>
          <p:nvPr/>
        </p:nvSpPr>
        <p:spPr>
          <a:xfrm>
            <a:off x="1817148" y="146986"/>
            <a:ext cx="2790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rgbClr val="D1D5D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CLIENT TELEMETRY AI SYSTEM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90985F-F76B-C203-362A-CD9A137D1A53}"/>
              </a:ext>
            </a:extLst>
          </p:cNvPr>
          <p:cNvCxnSpPr>
            <a:cxnSpLocks/>
          </p:cNvCxnSpPr>
          <p:nvPr/>
        </p:nvCxnSpPr>
        <p:spPr>
          <a:xfrm>
            <a:off x="0" y="566057"/>
            <a:ext cx="1219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A8D02DF-3577-71E9-C7FC-C0453A6FAD83}"/>
              </a:ext>
            </a:extLst>
          </p:cNvPr>
          <p:cNvCxnSpPr>
            <a:cxnSpLocks/>
          </p:cNvCxnSpPr>
          <p:nvPr/>
        </p:nvCxnSpPr>
        <p:spPr>
          <a:xfrm>
            <a:off x="0" y="6313714"/>
            <a:ext cx="1219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D2A0635-2017-645F-D93F-FAF6FCE7D08E}"/>
              </a:ext>
            </a:extLst>
          </p:cNvPr>
          <p:cNvSpPr txBox="1"/>
          <p:nvPr/>
        </p:nvSpPr>
        <p:spPr>
          <a:xfrm>
            <a:off x="199717" y="6444621"/>
            <a:ext cx="44083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Vanguard Client Telemetry AI System    |    </a:t>
            </a:r>
            <a:r>
              <a:rPr lang="en-US" sz="1200">
                <a:solidFill>
                  <a:srgbClr val="D1D5D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CI493 Senior Design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C6E834C-8F85-E116-E995-56BAF7236EB4}"/>
              </a:ext>
            </a:extLst>
          </p:cNvPr>
          <p:cNvSpPr/>
          <p:nvPr/>
        </p:nvSpPr>
        <p:spPr>
          <a:xfrm>
            <a:off x="11292114" y="6400240"/>
            <a:ext cx="457200" cy="365760"/>
          </a:xfrm>
          <a:prstGeom prst="roundRect">
            <a:avLst/>
          </a:prstGeom>
          <a:solidFill>
            <a:srgbClr val="C81E3A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65EFCE-9CC3-EAAA-1C4D-83A6CDD54980}"/>
              </a:ext>
            </a:extLst>
          </p:cNvPr>
          <p:cNvSpPr/>
          <p:nvPr/>
        </p:nvSpPr>
        <p:spPr>
          <a:xfrm>
            <a:off x="0" y="555179"/>
            <a:ext cx="12191999" cy="57476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3B936C-DB81-FB91-B43D-5C60C00FA117}"/>
              </a:ext>
            </a:extLst>
          </p:cNvPr>
          <p:cNvSpPr txBox="1"/>
          <p:nvPr/>
        </p:nvSpPr>
        <p:spPr>
          <a:xfrm>
            <a:off x="2887525" y="700685"/>
            <a:ext cx="6786431" cy="67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/>
              <a:t>Phase 2: AI / Model Engineering</a:t>
            </a:r>
            <a:endParaRPr lang="en-US" sz="3600" b="1">
              <a:solidFill>
                <a:srgbClr val="111827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8D16C2-2A83-F304-33D6-36423F118866}"/>
              </a:ext>
            </a:extLst>
          </p:cNvPr>
          <p:cNvSpPr txBox="1"/>
          <p:nvPr/>
        </p:nvSpPr>
        <p:spPr>
          <a:xfrm>
            <a:off x="4652890" y="1372074"/>
            <a:ext cx="288621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/>
              <a:t>Architecture Diagram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C6E30E7A-CCFB-66FE-71FC-E26C26EBBB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4067" y="1741406"/>
            <a:ext cx="11658600" cy="3197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028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41699D-C8FB-5333-A040-BD5480C01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E6AFB7-057B-EA8B-66EB-BECD8B4D9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72" y="-520613"/>
            <a:ext cx="1642976" cy="16429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25781B-F028-73B3-249A-1678D05D4418}"/>
              </a:ext>
            </a:extLst>
          </p:cNvPr>
          <p:cNvSpPr txBox="1"/>
          <p:nvPr/>
        </p:nvSpPr>
        <p:spPr>
          <a:xfrm>
            <a:off x="1817148" y="146986"/>
            <a:ext cx="2790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rgbClr val="D1D5D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CLIENT TELEMETRY AI SYSTEM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F4D6B04-43E3-C906-E6A8-5C2E8587EE8F}"/>
              </a:ext>
            </a:extLst>
          </p:cNvPr>
          <p:cNvCxnSpPr>
            <a:cxnSpLocks/>
          </p:cNvCxnSpPr>
          <p:nvPr/>
        </p:nvCxnSpPr>
        <p:spPr>
          <a:xfrm>
            <a:off x="0" y="566057"/>
            <a:ext cx="1219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D5AA7E6-4A48-C3EE-213B-C93643A0BA27}"/>
              </a:ext>
            </a:extLst>
          </p:cNvPr>
          <p:cNvCxnSpPr>
            <a:cxnSpLocks/>
          </p:cNvCxnSpPr>
          <p:nvPr/>
        </p:nvCxnSpPr>
        <p:spPr>
          <a:xfrm>
            <a:off x="0" y="6313714"/>
            <a:ext cx="1219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10E2B2F-BF18-A384-CAED-8FFFA9E43DE4}"/>
              </a:ext>
            </a:extLst>
          </p:cNvPr>
          <p:cNvSpPr txBox="1"/>
          <p:nvPr/>
        </p:nvSpPr>
        <p:spPr>
          <a:xfrm>
            <a:off x="199717" y="6444621"/>
            <a:ext cx="44083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Vanguard Client Telemetry AI System    |    </a:t>
            </a:r>
            <a:r>
              <a:rPr lang="en-US" sz="1200">
                <a:solidFill>
                  <a:srgbClr val="D1D5D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CI493 Senior Design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CFA3404-DA5E-BF3E-FD53-68430AC92074}"/>
              </a:ext>
            </a:extLst>
          </p:cNvPr>
          <p:cNvSpPr/>
          <p:nvPr/>
        </p:nvSpPr>
        <p:spPr>
          <a:xfrm>
            <a:off x="11292114" y="6400240"/>
            <a:ext cx="457200" cy="365760"/>
          </a:xfrm>
          <a:prstGeom prst="roundRect">
            <a:avLst/>
          </a:prstGeom>
          <a:solidFill>
            <a:srgbClr val="C81E3A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F82026-29CD-EBA9-3C37-C350045EFC2C}"/>
              </a:ext>
            </a:extLst>
          </p:cNvPr>
          <p:cNvSpPr/>
          <p:nvPr/>
        </p:nvSpPr>
        <p:spPr>
          <a:xfrm>
            <a:off x="0" y="555179"/>
            <a:ext cx="12191999" cy="57476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AC9534-550A-E170-2065-438A0729BF71}"/>
              </a:ext>
            </a:extLst>
          </p:cNvPr>
          <p:cNvSpPr txBox="1"/>
          <p:nvPr/>
        </p:nvSpPr>
        <p:spPr>
          <a:xfrm>
            <a:off x="203592" y="726085"/>
            <a:ext cx="4864498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>
                <a:solidFill>
                  <a:srgbClr val="000000"/>
                </a:solidFill>
                <a:latin typeface="Aptos"/>
                <a:cs typeface="Segoe UI"/>
              </a:rPr>
              <a:t>Part 1 : Data Ingestion &amp; Preprocessing</a:t>
            </a:r>
            <a:endParaRPr lang="en-US" sz="2000" b="1">
              <a:solidFill>
                <a:srgbClr val="000000"/>
              </a:solidFill>
              <a:latin typeface="Aptos"/>
              <a:cs typeface="Segoe UI" panose="020B0502040204020203" pitchFamily="34" charset="0"/>
            </a:endParaRPr>
          </a:p>
        </p:txBody>
      </p:sp>
      <p:pic>
        <p:nvPicPr>
          <p:cNvPr id="3" name="Picture 2" descr="A diagram of a computer&#10;&#10;AI-generated content may be incorrect.">
            <a:extLst>
              <a:ext uri="{FF2B5EF4-FFF2-40B4-BE49-F238E27FC236}">
                <a16:creationId xmlns:a16="http://schemas.microsoft.com/office/drawing/2014/main" id="{22672460-F226-095A-689F-DB056A1034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7897" y="928881"/>
            <a:ext cx="3749534" cy="47398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EE40683-90E8-2B0B-8FD1-661080E2896F}"/>
              </a:ext>
            </a:extLst>
          </p:cNvPr>
          <p:cNvSpPr txBox="1"/>
          <p:nvPr/>
        </p:nvSpPr>
        <p:spPr>
          <a:xfrm>
            <a:off x="295969" y="1374408"/>
            <a:ext cx="741596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/>
              <a:t>Key Points</a:t>
            </a:r>
          </a:p>
          <a:p>
            <a:endParaRPr lang="en-GB"/>
          </a:p>
          <a:p>
            <a:pPr marL="342900" indent="-342900">
              <a:buAutoNum type="arabicPeriod"/>
            </a:pPr>
            <a:r>
              <a:rPr lang="en-GB"/>
              <a:t>Handling of raw telemetry data in ".</a:t>
            </a:r>
            <a:r>
              <a:rPr lang="en-GB" err="1"/>
              <a:t>ndjson</a:t>
            </a:r>
            <a:r>
              <a:rPr lang="en-GB"/>
              <a:t>" format from both AWS S3 and Local file system</a:t>
            </a:r>
          </a:p>
          <a:p>
            <a:pPr marL="342900" indent="-342900">
              <a:buAutoNum type="arabicPeriod"/>
            </a:pPr>
            <a:r>
              <a:rPr lang="en-GB"/>
              <a:t>Allowing system to adapt to different telemetry format without any significant code changes</a:t>
            </a:r>
          </a:p>
          <a:p>
            <a:pPr marL="342900" indent="-342900">
              <a:buAutoNum type="arabicPeriod"/>
            </a:pPr>
            <a:r>
              <a:rPr lang="en-GB"/>
              <a:t>Preprocess by grouping individual events into cohesive user sessions</a:t>
            </a:r>
          </a:p>
          <a:p>
            <a:pPr marL="342900" indent="-342900">
              <a:buAutoNum type="arabicPeriod"/>
            </a:pPr>
            <a:r>
              <a:rPr lang="en-GB"/>
              <a:t>Raw / Unstructured events are transformed into 13 specific numerical features that quantify user frustration</a:t>
            </a:r>
          </a:p>
          <a:p>
            <a:pPr marL="342900" indent="-342900">
              <a:buAutoNum type="arabicPeriod"/>
            </a:pPr>
            <a:r>
              <a:rPr lang="en-GB"/>
              <a:t>Store processed data into S3 bucket for visualization &amp; analytics</a:t>
            </a:r>
          </a:p>
        </p:txBody>
      </p:sp>
    </p:spTree>
    <p:extLst>
      <p:ext uri="{BB962C8B-B14F-4D97-AF65-F5344CB8AC3E}">
        <p14:creationId xmlns:p14="http://schemas.microsoft.com/office/powerpoint/2010/main" val="998543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1B3B8D-9DB5-1DC3-2125-841601EC2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62463A-F751-D133-247B-40748E7BD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72" y="-520613"/>
            <a:ext cx="1642976" cy="16429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2AA603-BD89-77BB-AB5D-6578F2CB212F}"/>
              </a:ext>
            </a:extLst>
          </p:cNvPr>
          <p:cNvSpPr txBox="1"/>
          <p:nvPr/>
        </p:nvSpPr>
        <p:spPr>
          <a:xfrm>
            <a:off x="1817148" y="146986"/>
            <a:ext cx="2790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rgbClr val="D1D5D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CLIENT TELEMETRY AI SYSTEM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9233E70-16A6-42E0-407C-EBC719D1EB72}"/>
              </a:ext>
            </a:extLst>
          </p:cNvPr>
          <p:cNvCxnSpPr>
            <a:cxnSpLocks/>
          </p:cNvCxnSpPr>
          <p:nvPr/>
        </p:nvCxnSpPr>
        <p:spPr>
          <a:xfrm>
            <a:off x="0" y="566057"/>
            <a:ext cx="1219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5E9234C-00FC-ABB6-AD13-ED9E97C6408B}"/>
              </a:ext>
            </a:extLst>
          </p:cNvPr>
          <p:cNvCxnSpPr>
            <a:cxnSpLocks/>
          </p:cNvCxnSpPr>
          <p:nvPr/>
        </p:nvCxnSpPr>
        <p:spPr>
          <a:xfrm>
            <a:off x="0" y="6313714"/>
            <a:ext cx="1219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306DC78-8B6E-1F50-10A2-51577AFEB9AF}"/>
              </a:ext>
            </a:extLst>
          </p:cNvPr>
          <p:cNvSpPr txBox="1"/>
          <p:nvPr/>
        </p:nvSpPr>
        <p:spPr>
          <a:xfrm>
            <a:off x="199717" y="6444621"/>
            <a:ext cx="44083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Vanguard Client Telemetry AI System    |    </a:t>
            </a:r>
            <a:r>
              <a:rPr lang="en-US" sz="1200">
                <a:solidFill>
                  <a:srgbClr val="D1D5D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CI493 Senior Design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C690B7D-832B-08AC-9695-850D6A8EC243}"/>
              </a:ext>
            </a:extLst>
          </p:cNvPr>
          <p:cNvSpPr/>
          <p:nvPr/>
        </p:nvSpPr>
        <p:spPr>
          <a:xfrm>
            <a:off x="11292114" y="6400240"/>
            <a:ext cx="457200" cy="365760"/>
          </a:xfrm>
          <a:prstGeom prst="roundRect">
            <a:avLst/>
          </a:prstGeom>
          <a:solidFill>
            <a:srgbClr val="C81E3A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B9E8E0-1896-A3AD-6D7E-214AE5817B63}"/>
              </a:ext>
            </a:extLst>
          </p:cNvPr>
          <p:cNvSpPr/>
          <p:nvPr/>
        </p:nvSpPr>
        <p:spPr>
          <a:xfrm>
            <a:off x="0" y="555179"/>
            <a:ext cx="12191999" cy="57476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22505E-ED31-E568-5AFA-33DB5EFFC5A8}"/>
              </a:ext>
            </a:extLst>
          </p:cNvPr>
          <p:cNvSpPr txBox="1"/>
          <p:nvPr/>
        </p:nvSpPr>
        <p:spPr>
          <a:xfrm>
            <a:off x="178192" y="726085"/>
            <a:ext cx="678643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/>
              <a:t>Part 2: Model Training &amp; Artifacts </a:t>
            </a:r>
            <a:endParaRPr lang="en-US" sz="2000"/>
          </a:p>
        </p:txBody>
      </p:sp>
      <p:pic>
        <p:nvPicPr>
          <p:cNvPr id="3" name="Picture 2" descr="A diagram of a program&#10;&#10;AI-generated content may be incorrect.">
            <a:extLst>
              <a:ext uri="{FF2B5EF4-FFF2-40B4-BE49-F238E27FC236}">
                <a16:creationId xmlns:a16="http://schemas.microsoft.com/office/drawing/2014/main" id="{A0BF4C3A-385F-0D1A-5AAE-2C147B014D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1197" y="1126066"/>
            <a:ext cx="5031406" cy="40555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22A373-833C-C2EA-8804-86C5E96E98E9}"/>
              </a:ext>
            </a:extLst>
          </p:cNvPr>
          <p:cNvSpPr txBox="1"/>
          <p:nvPr/>
        </p:nvSpPr>
        <p:spPr>
          <a:xfrm>
            <a:off x="199717" y="1402352"/>
            <a:ext cx="6194241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/>
              <a:t>Key Points</a:t>
            </a:r>
            <a:br>
              <a:rPr lang="en-GB" b="1"/>
            </a:br>
            <a:endParaRPr lang="en-GB" b="1"/>
          </a:p>
          <a:p>
            <a:pPr marL="342900" indent="-342900">
              <a:buAutoNum type="arabicPeriod"/>
            </a:pPr>
            <a:r>
              <a:rPr lang="en-GB"/>
              <a:t>Ensemble approach combining two models Autoencoder and Isolation forest to identify anomalies</a:t>
            </a:r>
          </a:p>
          <a:p>
            <a:pPr marL="342900" indent="-342900">
              <a:buAutoNum type="arabicPeriod"/>
            </a:pPr>
            <a:r>
              <a:rPr lang="en-GB"/>
              <a:t>Normalization of pre-processed features to prevent high magnitude features from disrupting the predictions</a:t>
            </a:r>
          </a:p>
          <a:p>
            <a:pPr marL="342900" indent="-342900">
              <a:buAutoNum type="arabicPeriod"/>
            </a:pPr>
            <a:r>
              <a:rPr lang="en-GB"/>
              <a:t>Strict validation to ensure only best model is passed into production</a:t>
            </a:r>
          </a:p>
          <a:p>
            <a:pPr marL="342900" indent="-342900">
              <a:buAutoNum type="arabicPeriod"/>
            </a:pPr>
            <a:r>
              <a:rPr lang="en-GB"/>
              <a:t>Model versioning to ensure safe model switch</a:t>
            </a:r>
          </a:p>
        </p:txBody>
      </p:sp>
    </p:spTree>
    <p:extLst>
      <p:ext uri="{BB962C8B-B14F-4D97-AF65-F5344CB8AC3E}">
        <p14:creationId xmlns:p14="http://schemas.microsoft.com/office/powerpoint/2010/main" val="4203189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4E9EB8-4EE0-8FF1-7BF2-EB7CF53E0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235D25-7F38-81D6-FDC2-966F50DDB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72" y="-520613"/>
            <a:ext cx="1642976" cy="16429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A8FA3C-37B6-DD28-37BC-EC534F967181}"/>
              </a:ext>
            </a:extLst>
          </p:cNvPr>
          <p:cNvSpPr txBox="1"/>
          <p:nvPr/>
        </p:nvSpPr>
        <p:spPr>
          <a:xfrm>
            <a:off x="1817148" y="146986"/>
            <a:ext cx="2790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rgbClr val="D1D5D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CLIENT TELEMETRY AI SYSTEM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6167E84-CDB0-CBFE-29D8-D58E88A41D12}"/>
              </a:ext>
            </a:extLst>
          </p:cNvPr>
          <p:cNvCxnSpPr>
            <a:cxnSpLocks/>
          </p:cNvCxnSpPr>
          <p:nvPr/>
        </p:nvCxnSpPr>
        <p:spPr>
          <a:xfrm>
            <a:off x="0" y="566057"/>
            <a:ext cx="1219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ADAB46A-FE9D-9003-0533-1C8675E119E4}"/>
              </a:ext>
            </a:extLst>
          </p:cNvPr>
          <p:cNvCxnSpPr>
            <a:cxnSpLocks/>
          </p:cNvCxnSpPr>
          <p:nvPr/>
        </p:nvCxnSpPr>
        <p:spPr>
          <a:xfrm>
            <a:off x="0" y="6313714"/>
            <a:ext cx="1219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E344928-BFD9-D0FA-7D49-172E609A0091}"/>
              </a:ext>
            </a:extLst>
          </p:cNvPr>
          <p:cNvSpPr txBox="1"/>
          <p:nvPr/>
        </p:nvSpPr>
        <p:spPr>
          <a:xfrm>
            <a:off x="199717" y="6444621"/>
            <a:ext cx="44083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Vanguard Client Telemetry AI System    |    </a:t>
            </a:r>
            <a:r>
              <a:rPr lang="en-US" sz="1200">
                <a:solidFill>
                  <a:srgbClr val="D1D5D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CI493 Senior Design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E60CDFD-A83A-C894-E2BE-94C232FBD7A7}"/>
              </a:ext>
            </a:extLst>
          </p:cNvPr>
          <p:cNvSpPr/>
          <p:nvPr/>
        </p:nvSpPr>
        <p:spPr>
          <a:xfrm>
            <a:off x="11292114" y="6400240"/>
            <a:ext cx="457200" cy="365760"/>
          </a:xfrm>
          <a:prstGeom prst="roundRect">
            <a:avLst/>
          </a:prstGeom>
          <a:solidFill>
            <a:srgbClr val="C81E3A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0367B3-DCDE-68B6-4DE9-9BF6BEFFDA3A}"/>
              </a:ext>
            </a:extLst>
          </p:cNvPr>
          <p:cNvSpPr/>
          <p:nvPr/>
        </p:nvSpPr>
        <p:spPr>
          <a:xfrm>
            <a:off x="0" y="555179"/>
            <a:ext cx="12191999" cy="57476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v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6D30D5-0DF4-0C95-7E28-8AFD5F001DB7}"/>
              </a:ext>
            </a:extLst>
          </p:cNvPr>
          <p:cNvSpPr txBox="1"/>
          <p:nvPr/>
        </p:nvSpPr>
        <p:spPr>
          <a:xfrm>
            <a:off x="203592" y="726085"/>
            <a:ext cx="678643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/>
              <a:t>Part 3 : Deployment</a:t>
            </a:r>
            <a:endParaRPr lang="en-US" sz="2000"/>
          </a:p>
        </p:txBody>
      </p:sp>
      <p:pic>
        <p:nvPicPr>
          <p:cNvPr id="3" name="Picture 2" descr="A diagram of a program&#10;&#10;AI-generated content may be incorrect.">
            <a:extLst>
              <a:ext uri="{FF2B5EF4-FFF2-40B4-BE49-F238E27FC236}">
                <a16:creationId xmlns:a16="http://schemas.microsoft.com/office/drawing/2014/main" id="{495FAE69-ABFF-9A3A-CE76-03AAB2B4A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162" y="1300438"/>
            <a:ext cx="5669153" cy="3327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D9092F-9793-26A3-B1A2-CB8AE06A902D}"/>
              </a:ext>
            </a:extLst>
          </p:cNvPr>
          <p:cNvSpPr txBox="1"/>
          <p:nvPr/>
        </p:nvSpPr>
        <p:spPr>
          <a:xfrm>
            <a:off x="200490" y="1408670"/>
            <a:ext cx="6024208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/>
              <a:t>Key Points</a:t>
            </a:r>
            <a:br>
              <a:rPr lang="en-GB" b="1"/>
            </a:br>
            <a:endParaRPr lang="en-GB" b="1"/>
          </a:p>
          <a:p>
            <a:pPr marL="342900" indent="-342900">
              <a:buAutoNum type="arabicPeriod"/>
            </a:pPr>
            <a:r>
              <a:rPr lang="en-GB"/>
              <a:t>Real-time deployment with SageMaker Endpoint for high-performance and scalable API requests</a:t>
            </a:r>
          </a:p>
          <a:p>
            <a:pPr marL="342900" indent="-342900">
              <a:buAutoNum type="arabicPeriod"/>
            </a:pPr>
            <a:r>
              <a:rPr lang="en-GB"/>
              <a:t>Local model syncing for scoring without any network overhead in case of API failures</a:t>
            </a:r>
          </a:p>
          <a:p>
            <a:pPr marL="342900" indent="-342900">
              <a:buAutoNum type="arabicPeriod"/>
            </a:pPr>
            <a:r>
              <a:rPr lang="en-GB"/>
              <a:t>Automated triggers with lambda function to provide event driven triggers to monitor S3 raw data continuously</a:t>
            </a:r>
          </a:p>
          <a:p>
            <a:pPr marL="342900" indent="-342900">
              <a:buAutoNum type="arabicPeriod"/>
            </a:pPr>
            <a:r>
              <a:rPr lang="en-GB"/>
              <a:t>Severity classification with final 0-10 score translated into classified labels (Normal, Medium, High) for decision making and visualization</a:t>
            </a:r>
          </a:p>
          <a:p>
            <a:pPr marL="342900" indent="-342900">
              <a:buAutoNum type="arabicPeriod"/>
            </a:pPr>
            <a:endParaRPr lang="en-GB"/>
          </a:p>
          <a:p>
            <a:pPr marL="342900" indent="-342900">
              <a:buAutoNum type="arabicPeriod"/>
            </a:pPr>
            <a:endParaRPr lang="en-GB"/>
          </a:p>
          <a:p>
            <a:pPr marL="342900" indent="-342900">
              <a:buAutoNum type="arabicPeriod"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6207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51D10A-8AC5-7FB5-EA82-8C99FCA96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43F973-A4DC-B8C0-CC98-EA4DB58D5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72" y="-520613"/>
            <a:ext cx="1642976" cy="16429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D2C3CD-F994-1477-2EDF-BC394EE1A997}"/>
              </a:ext>
            </a:extLst>
          </p:cNvPr>
          <p:cNvSpPr txBox="1"/>
          <p:nvPr/>
        </p:nvSpPr>
        <p:spPr>
          <a:xfrm>
            <a:off x="1817148" y="146986"/>
            <a:ext cx="2790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rgbClr val="D1D5D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CLIENT TELEMETRY AI SYSTEM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6907BE5-AAAD-092C-E79F-BD3178F36E0B}"/>
              </a:ext>
            </a:extLst>
          </p:cNvPr>
          <p:cNvCxnSpPr>
            <a:cxnSpLocks/>
          </p:cNvCxnSpPr>
          <p:nvPr/>
        </p:nvCxnSpPr>
        <p:spPr>
          <a:xfrm>
            <a:off x="0" y="566057"/>
            <a:ext cx="1219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9B50D92-AA93-DC01-5A9A-A29B88D7DD89}"/>
              </a:ext>
            </a:extLst>
          </p:cNvPr>
          <p:cNvCxnSpPr>
            <a:cxnSpLocks/>
          </p:cNvCxnSpPr>
          <p:nvPr/>
        </p:nvCxnSpPr>
        <p:spPr>
          <a:xfrm>
            <a:off x="0" y="6313714"/>
            <a:ext cx="1219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30A51F5-C28F-264C-06EB-2C6F4D0EE5AA}"/>
              </a:ext>
            </a:extLst>
          </p:cNvPr>
          <p:cNvSpPr txBox="1"/>
          <p:nvPr/>
        </p:nvSpPr>
        <p:spPr>
          <a:xfrm>
            <a:off x="199717" y="6444621"/>
            <a:ext cx="44083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Vanguard Client Telemetry AI System    |    </a:t>
            </a:r>
            <a:r>
              <a:rPr lang="en-US" sz="1200">
                <a:solidFill>
                  <a:srgbClr val="D1D5D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CI493 Senior Design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8AFE048-3E34-4CC5-5C63-7AFA847D3D64}"/>
              </a:ext>
            </a:extLst>
          </p:cNvPr>
          <p:cNvSpPr/>
          <p:nvPr/>
        </p:nvSpPr>
        <p:spPr>
          <a:xfrm>
            <a:off x="11292114" y="6400240"/>
            <a:ext cx="457200" cy="365760"/>
          </a:xfrm>
          <a:prstGeom prst="roundRect">
            <a:avLst/>
          </a:prstGeom>
          <a:solidFill>
            <a:srgbClr val="C81E3A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11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EDE544-0701-F470-9875-A5577D9463C1}"/>
              </a:ext>
            </a:extLst>
          </p:cNvPr>
          <p:cNvSpPr/>
          <p:nvPr/>
        </p:nvSpPr>
        <p:spPr>
          <a:xfrm>
            <a:off x="0" y="555179"/>
            <a:ext cx="12191999" cy="57476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1D7287-5D66-3325-D4B3-A20513A4E7EB}"/>
              </a:ext>
            </a:extLst>
          </p:cNvPr>
          <p:cNvSpPr txBox="1"/>
          <p:nvPr/>
        </p:nvSpPr>
        <p:spPr>
          <a:xfrm>
            <a:off x="432192" y="768419"/>
            <a:ext cx="75029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/>
              <a:t>Phase 3: Dashboard + Visualization</a:t>
            </a:r>
            <a:endParaRPr lang="en-US" sz="3600" b="1">
              <a:solidFill>
                <a:srgbClr val="111827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EC5DE9-E6DD-A46F-4506-A49B8C09E5A1}"/>
              </a:ext>
            </a:extLst>
          </p:cNvPr>
          <p:cNvSpPr txBox="1"/>
          <p:nvPr/>
        </p:nvSpPr>
        <p:spPr>
          <a:xfrm>
            <a:off x="432192" y="1442836"/>
            <a:ext cx="604245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rgbClr val="1E293B"/>
                </a:solidFill>
              </a:rPr>
              <a:t>Purpose </a:t>
            </a:r>
          </a:p>
          <a:p>
            <a:r>
              <a:rPr lang="en-US" sz="1200">
                <a:solidFill>
                  <a:srgbClr val="1E293B"/>
                </a:solidFill>
              </a:rPr>
              <a:t>Phase 3 provides a centralized dashboard for monitoring, analyzing, and prioritizing high-frustration user sessions generated throughout the pipeline. </a:t>
            </a:r>
          </a:p>
          <a:p>
            <a:endParaRPr lang="en-US" sz="1200">
              <a:solidFill>
                <a:srgbClr val="1E293B"/>
              </a:solidFill>
            </a:endParaRPr>
          </a:p>
          <a:p>
            <a:r>
              <a:rPr lang="en-US" sz="1200" b="1">
                <a:solidFill>
                  <a:srgbClr val="1E293B"/>
                </a:solidFill>
              </a:rPr>
              <a:t>Dashboard Views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b="1">
                <a:solidFill>
                  <a:srgbClr val="1E293B"/>
                </a:solidFill>
              </a:rPr>
              <a:t>Sessions Page </a:t>
            </a:r>
            <a:endParaRPr lang="en-US" sz="1200" b="1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1E293B"/>
                </a:solidFill>
              </a:rPr>
              <a:t>Displays all processed sessions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1E293B"/>
                </a:solidFill>
              </a:rPr>
              <a:t>Shows severity, scores, timestamps, and session status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b="1">
                <a:solidFill>
                  <a:srgbClr val="1E293B"/>
                </a:solidFill>
              </a:rPr>
              <a:t>Alerts Page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1E293B"/>
                </a:solidFill>
              </a:rPr>
              <a:t>Highlights high-frustration sessions requiring attention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1E293B"/>
                </a:solidFill>
              </a:rPr>
              <a:t>Prioritizes critical user experiences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b="1">
                <a:solidFill>
                  <a:srgbClr val="1E293B"/>
                </a:solidFill>
              </a:rPr>
              <a:t>Queue Page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1E293B"/>
                </a:solidFill>
              </a:rPr>
              <a:t>Organizes sessions by status, severity, and timestamp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1E293B"/>
                </a:solidFill>
              </a:rPr>
              <a:t>Simulates frustration-aware prioritization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b="1">
                <a:solidFill>
                  <a:srgbClr val="1E293B"/>
                </a:solidFill>
              </a:rPr>
              <a:t>Session Detail Page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1E293B"/>
                </a:solidFill>
              </a:rPr>
              <a:t>Displays: </a:t>
            </a:r>
          </a:p>
          <a:p>
            <a:pPr marL="1257300" lvl="2" indent="-342900">
              <a:buFont typeface="System Font Regular"/>
              <a:buChar char="–"/>
            </a:pPr>
            <a:r>
              <a:rPr lang="en-US" sz="1200">
                <a:solidFill>
                  <a:srgbClr val="1E293B"/>
                </a:solidFill>
              </a:rPr>
              <a:t>aggregated metrics </a:t>
            </a:r>
          </a:p>
          <a:p>
            <a:pPr marL="1257300" lvl="2" indent="-342900">
              <a:buFont typeface="System Font Regular"/>
              <a:buChar char="–"/>
            </a:pPr>
            <a:r>
              <a:rPr lang="en-US" sz="1200">
                <a:solidFill>
                  <a:srgbClr val="1E293B"/>
                </a:solidFill>
              </a:rPr>
              <a:t>behavioral metrics </a:t>
            </a:r>
          </a:p>
          <a:p>
            <a:pPr marL="1257300" lvl="2" indent="-342900">
              <a:buFont typeface="System Font Regular"/>
              <a:buChar char="–"/>
            </a:pPr>
            <a:r>
              <a:rPr lang="en-US" sz="1200">
                <a:solidFill>
                  <a:srgbClr val="1E293B"/>
                </a:solidFill>
              </a:rPr>
              <a:t>prediction results </a:t>
            </a:r>
          </a:p>
          <a:p>
            <a:pPr marL="1257300" lvl="2" indent="-342900">
              <a:buFont typeface="System Font Regular"/>
              <a:buChar char="–"/>
            </a:pPr>
            <a:r>
              <a:rPr lang="en-US" sz="1200">
                <a:solidFill>
                  <a:srgbClr val="1E293B"/>
                </a:solidFill>
              </a:rPr>
              <a:t>event timeline </a:t>
            </a:r>
          </a:p>
          <a:p>
            <a:pPr marL="1257300" lvl="2" indent="-342900">
              <a:buFont typeface="System Font Regular"/>
              <a:buChar char="–"/>
            </a:pPr>
            <a:r>
              <a:rPr lang="en-US" sz="1200">
                <a:solidFill>
                  <a:srgbClr val="1E293B"/>
                </a:solidFill>
              </a:rPr>
              <a:t>session metadata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b="1">
                <a:solidFill>
                  <a:srgbClr val="1E293B"/>
                </a:solidFill>
              </a:rPr>
              <a:t>Admin Page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1E293B"/>
                </a:solidFill>
              </a:rPr>
              <a:t>Allows manual severity overrides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1E293B"/>
                </a:solidFill>
              </a:rPr>
              <a:t>Supports feedback/comments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1E293B"/>
                </a:solidFill>
              </a:rPr>
              <a:t>Simulates human-in-the-loop review workflow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261579-4CE9-0FA3-8876-AF0E32C6CB4A}"/>
              </a:ext>
            </a:extLst>
          </p:cNvPr>
          <p:cNvSpPr txBox="1"/>
          <p:nvPr/>
        </p:nvSpPr>
        <p:spPr>
          <a:xfrm>
            <a:off x="6789743" y="1617111"/>
            <a:ext cx="5087159" cy="2323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/>
              <a:t>Key Features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Cross-page data consistency across all dashboard views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Automatic refresh using latest available run data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Accurate session-to-prediction mapping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Severity-based prioritization and filtering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Missing/incomplete data handling with fallback values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Override functionality for admin review and validation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079B4F8-9E01-261D-B48B-4A3A8EB11919}"/>
              </a:ext>
            </a:extLst>
          </p:cNvPr>
          <p:cNvCxnSpPr>
            <a:cxnSpLocks/>
          </p:cNvCxnSpPr>
          <p:nvPr/>
        </p:nvCxnSpPr>
        <p:spPr>
          <a:xfrm>
            <a:off x="6610571" y="1580234"/>
            <a:ext cx="0" cy="438808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2966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B8996C-6408-63C7-A229-F6EA2DD73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268209-464C-43AD-AEE6-D4AC501BD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72" y="-520613"/>
            <a:ext cx="1642976" cy="16429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2BC505-8937-A6D2-7738-D970C224C8FB}"/>
              </a:ext>
            </a:extLst>
          </p:cNvPr>
          <p:cNvSpPr txBox="1"/>
          <p:nvPr/>
        </p:nvSpPr>
        <p:spPr>
          <a:xfrm>
            <a:off x="1817148" y="146986"/>
            <a:ext cx="2790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rgbClr val="D1D5D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CLIENT TELEMETRY AI SYSTEM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2F25A5-84DF-808B-6B90-CF07EB82A9BB}"/>
              </a:ext>
            </a:extLst>
          </p:cNvPr>
          <p:cNvCxnSpPr>
            <a:cxnSpLocks/>
          </p:cNvCxnSpPr>
          <p:nvPr/>
        </p:nvCxnSpPr>
        <p:spPr>
          <a:xfrm>
            <a:off x="0" y="566057"/>
            <a:ext cx="1219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B751B0-C229-302D-DE77-D08FABCAA749}"/>
              </a:ext>
            </a:extLst>
          </p:cNvPr>
          <p:cNvCxnSpPr>
            <a:cxnSpLocks/>
          </p:cNvCxnSpPr>
          <p:nvPr/>
        </p:nvCxnSpPr>
        <p:spPr>
          <a:xfrm>
            <a:off x="0" y="6313714"/>
            <a:ext cx="1219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C907816-B522-B7A7-0F86-96D3A38F34F4}"/>
              </a:ext>
            </a:extLst>
          </p:cNvPr>
          <p:cNvSpPr txBox="1"/>
          <p:nvPr/>
        </p:nvSpPr>
        <p:spPr>
          <a:xfrm>
            <a:off x="199717" y="6444621"/>
            <a:ext cx="44083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Vanguard Client Telemetry AI System    |    </a:t>
            </a:r>
            <a:r>
              <a:rPr lang="en-US" sz="1200">
                <a:solidFill>
                  <a:srgbClr val="D1D5D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CI493 Senior Design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12898B3-25EB-4785-E4CB-FE17D7C871E0}"/>
              </a:ext>
            </a:extLst>
          </p:cNvPr>
          <p:cNvSpPr/>
          <p:nvPr/>
        </p:nvSpPr>
        <p:spPr>
          <a:xfrm>
            <a:off x="11292114" y="6400240"/>
            <a:ext cx="457200" cy="365760"/>
          </a:xfrm>
          <a:prstGeom prst="roundRect">
            <a:avLst/>
          </a:prstGeom>
          <a:solidFill>
            <a:srgbClr val="C81E3A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571CF1-B432-2E23-4948-251D9ABEF4E6}"/>
              </a:ext>
            </a:extLst>
          </p:cNvPr>
          <p:cNvSpPr/>
          <p:nvPr/>
        </p:nvSpPr>
        <p:spPr>
          <a:xfrm>
            <a:off x="0" y="555179"/>
            <a:ext cx="12191999" cy="57476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767809-BC3B-5A55-B4C0-8543FF56552F}"/>
              </a:ext>
            </a:extLst>
          </p:cNvPr>
          <p:cNvSpPr txBox="1"/>
          <p:nvPr/>
        </p:nvSpPr>
        <p:spPr>
          <a:xfrm>
            <a:off x="432192" y="768419"/>
            <a:ext cx="75029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/>
              <a:t>Demo Overview</a:t>
            </a:r>
            <a:endParaRPr lang="en-US" sz="3600" b="1">
              <a:solidFill>
                <a:srgbClr val="111827"/>
              </a:solidFill>
              <a:latin typeface="+mj-lt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49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811469-ADCF-6BBC-A0E2-D70F21E0A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E3ADBB-41F7-C475-03F8-5EB5CBB59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72" y="-520613"/>
            <a:ext cx="1642976" cy="16429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2DA9A0-4482-9686-CB39-D308760F88A9}"/>
              </a:ext>
            </a:extLst>
          </p:cNvPr>
          <p:cNvSpPr txBox="1"/>
          <p:nvPr/>
        </p:nvSpPr>
        <p:spPr>
          <a:xfrm>
            <a:off x="1817148" y="146986"/>
            <a:ext cx="2790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rgbClr val="D1D5D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CLIENT TELEMETRY AI SYSTEM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EE49A42-49B2-24FC-3DC5-CD0574952B47}"/>
              </a:ext>
            </a:extLst>
          </p:cNvPr>
          <p:cNvCxnSpPr>
            <a:cxnSpLocks/>
          </p:cNvCxnSpPr>
          <p:nvPr/>
        </p:nvCxnSpPr>
        <p:spPr>
          <a:xfrm>
            <a:off x="0" y="566057"/>
            <a:ext cx="1219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2DC7D57-6A2A-D2E6-E280-545FF92CCC08}"/>
              </a:ext>
            </a:extLst>
          </p:cNvPr>
          <p:cNvCxnSpPr>
            <a:cxnSpLocks/>
          </p:cNvCxnSpPr>
          <p:nvPr/>
        </p:nvCxnSpPr>
        <p:spPr>
          <a:xfrm>
            <a:off x="0" y="6313714"/>
            <a:ext cx="1219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7EECFC1-DD02-844D-3930-41C10FCF55FD}"/>
              </a:ext>
            </a:extLst>
          </p:cNvPr>
          <p:cNvSpPr txBox="1"/>
          <p:nvPr/>
        </p:nvSpPr>
        <p:spPr>
          <a:xfrm>
            <a:off x="199717" y="6444621"/>
            <a:ext cx="44083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Vanguard Client Telemetry AI System    |    </a:t>
            </a:r>
            <a:r>
              <a:rPr lang="en-US" sz="1200">
                <a:solidFill>
                  <a:srgbClr val="D1D5D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CI493 Senior Design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89FA9AB-5F01-5B2F-7E5F-FDC2456DCBED}"/>
              </a:ext>
            </a:extLst>
          </p:cNvPr>
          <p:cNvSpPr/>
          <p:nvPr/>
        </p:nvSpPr>
        <p:spPr>
          <a:xfrm>
            <a:off x="11292114" y="6400240"/>
            <a:ext cx="457200" cy="365760"/>
          </a:xfrm>
          <a:prstGeom prst="roundRect">
            <a:avLst/>
          </a:prstGeom>
          <a:solidFill>
            <a:srgbClr val="C81E3A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13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D30A15-0309-D43B-18D1-A8646FCEF2ED}"/>
              </a:ext>
            </a:extLst>
          </p:cNvPr>
          <p:cNvSpPr/>
          <p:nvPr/>
        </p:nvSpPr>
        <p:spPr>
          <a:xfrm>
            <a:off x="0" y="555179"/>
            <a:ext cx="12191999" cy="57476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671C3E-387C-EB86-0A60-8127B88E47F9}"/>
              </a:ext>
            </a:extLst>
          </p:cNvPr>
          <p:cNvSpPr txBox="1"/>
          <p:nvPr/>
        </p:nvSpPr>
        <p:spPr>
          <a:xfrm>
            <a:off x="432192" y="768419"/>
            <a:ext cx="75029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/>
              <a:t>Testing Strategy</a:t>
            </a:r>
            <a:endParaRPr lang="en-US" sz="3600" b="1">
              <a:solidFill>
                <a:srgbClr val="111827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475048-5483-7368-04F5-551C9EFCC343}"/>
              </a:ext>
            </a:extLst>
          </p:cNvPr>
          <p:cNvSpPr txBox="1"/>
          <p:nvPr/>
        </p:nvSpPr>
        <p:spPr>
          <a:xfrm>
            <a:off x="432192" y="1415100"/>
            <a:ext cx="10859922" cy="42473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sz="1600">
              <a:solidFill>
                <a:srgbClr val="1E293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1E293B"/>
                </a:solidFill>
              </a:rPr>
              <a:t>Unit Testing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1600">
                <a:solidFill>
                  <a:srgbClr val="1E293B"/>
                </a:solidFill>
                <a:ea typeface="+mn-lt"/>
                <a:cs typeface="+mn-lt"/>
              </a:rPr>
              <a:t>Validate metric calculations, severity classification, and API response structure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1600">
                <a:solidFill>
                  <a:srgbClr val="1E293B"/>
                </a:solidFill>
                <a:ea typeface="+mn-lt"/>
                <a:cs typeface="+mn-lt"/>
              </a:rPr>
              <a:t>Ensure correct feature values and score mapping logic </a:t>
            </a:r>
            <a:endParaRPr lang="en-US" sz="1600">
              <a:solidFill>
                <a:srgbClr val="1E293B"/>
              </a:solidFill>
            </a:endParaRPr>
          </a:p>
          <a:p>
            <a:pPr marL="742950" lvl="1" indent="-285750">
              <a:buFont typeface="Courier New" panose="020B0604020202020204" pitchFamily="34" charset="0"/>
              <a:buChar char="o"/>
            </a:pPr>
            <a:endParaRPr lang="en-US" sz="1600" b="1">
              <a:solidFill>
                <a:srgbClr val="1E293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1E293B"/>
                </a:solidFill>
              </a:rPr>
              <a:t>Integration Testing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1600">
                <a:solidFill>
                  <a:srgbClr val="1E293B"/>
                </a:solidFill>
                <a:ea typeface="+mn-lt"/>
                <a:cs typeface="+mn-lt"/>
              </a:rPr>
              <a:t>Verify data flow across all three phases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1600">
                <a:solidFill>
                  <a:srgbClr val="1E293B"/>
                </a:solidFill>
                <a:ea typeface="+mn-lt"/>
                <a:cs typeface="+mn-lt"/>
              </a:rPr>
              <a:t>Ensure telemetry → features → predictions → dashboard works correctly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endParaRPr lang="en-US" sz="1600">
              <a:solidFill>
                <a:srgbClr val="1E293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1E293B"/>
                </a:solidFill>
              </a:rPr>
              <a:t>System Testing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600">
                <a:solidFill>
                  <a:srgbClr val="1E293B"/>
                </a:solidFill>
                <a:ea typeface="+mn-lt"/>
                <a:cs typeface="+mn-lt"/>
              </a:rPr>
              <a:t>Test full pipeline execution from data generation to dashboard visualization</a:t>
            </a:r>
            <a:endParaRPr lang="en-US" sz="1600" b="1">
              <a:solidFill>
                <a:srgbClr val="1E293B"/>
              </a:solidFill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600">
                <a:solidFill>
                  <a:srgbClr val="1E293B"/>
                </a:solidFill>
                <a:ea typeface="+mn-lt"/>
                <a:cs typeface="+mn-lt"/>
              </a:rPr>
              <a:t>Confirm latest data loading, alerts, queue logic, and admin functions</a:t>
            </a:r>
            <a:endParaRPr lang="en-US" sz="1600">
              <a:solidFill>
                <a:srgbClr val="1E293B"/>
              </a:solidFill>
            </a:endParaRPr>
          </a:p>
          <a:p>
            <a:pPr marL="742950" lvl="1" indent="-285750">
              <a:buFont typeface="Courier New"/>
              <a:buChar char="o"/>
            </a:pPr>
            <a:endParaRPr lang="en-US" sz="1600">
              <a:solidFill>
                <a:srgbClr val="1E293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1E293B"/>
                </a:solidFill>
              </a:rPr>
              <a:t>UI &amp; Data Consistency Testing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1600">
                <a:solidFill>
                  <a:srgbClr val="1E293B"/>
                </a:solidFill>
                <a:ea typeface="+mn-lt"/>
                <a:cs typeface="+mn-lt"/>
              </a:rPr>
              <a:t>Validate dashboard accuracy across Sessions, Alerts, Queue, and Admin pages</a:t>
            </a:r>
            <a:endParaRPr lang="en-US" sz="1600" b="1">
              <a:solidFill>
                <a:srgbClr val="1E293B"/>
              </a:solidFill>
            </a:endParaRP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1600">
                <a:solidFill>
                  <a:srgbClr val="1E293B"/>
                </a:solidFill>
                <a:ea typeface="+mn-lt"/>
                <a:cs typeface="+mn-lt"/>
              </a:rPr>
              <a:t>Ensure consistent values, formatting, and missing data handling </a:t>
            </a:r>
            <a:endParaRPr lang="en-US" sz="1600">
              <a:solidFill>
                <a:srgbClr val="1E293B"/>
              </a:solidFill>
            </a:endParaRPr>
          </a:p>
          <a:p>
            <a:pPr marL="742950" lvl="1" indent="-285750">
              <a:buFont typeface="Courier New" panose="020B0604020202020204" pitchFamily="34" charset="0"/>
              <a:buChar char="o"/>
            </a:pPr>
            <a:endParaRPr lang="en-US" sz="1400">
              <a:solidFill>
                <a:srgbClr val="1E29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3946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F133EC-68F9-6CD2-769D-9DF6383B5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C5F317-5770-B3F4-CDF8-EEC9293FD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72" y="-520613"/>
            <a:ext cx="1642976" cy="16429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0074DD-34A9-B629-8F77-1EE1EEB905B9}"/>
              </a:ext>
            </a:extLst>
          </p:cNvPr>
          <p:cNvSpPr txBox="1"/>
          <p:nvPr/>
        </p:nvSpPr>
        <p:spPr>
          <a:xfrm>
            <a:off x="1817148" y="146986"/>
            <a:ext cx="2790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rgbClr val="D1D5D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CLIENT TELEMETRY AI SYSTEM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5B5C9B8-EFBA-F0C2-4C14-F48147CF718B}"/>
              </a:ext>
            </a:extLst>
          </p:cNvPr>
          <p:cNvCxnSpPr>
            <a:cxnSpLocks/>
          </p:cNvCxnSpPr>
          <p:nvPr/>
        </p:nvCxnSpPr>
        <p:spPr>
          <a:xfrm>
            <a:off x="0" y="566057"/>
            <a:ext cx="1219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DE61EE2-C1F3-492F-67C3-30A09FB0DF23}"/>
              </a:ext>
            </a:extLst>
          </p:cNvPr>
          <p:cNvCxnSpPr>
            <a:cxnSpLocks/>
          </p:cNvCxnSpPr>
          <p:nvPr/>
        </p:nvCxnSpPr>
        <p:spPr>
          <a:xfrm>
            <a:off x="0" y="6313714"/>
            <a:ext cx="1219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F84EB39-93D0-9E76-1F72-7F66C8A7792B}"/>
              </a:ext>
            </a:extLst>
          </p:cNvPr>
          <p:cNvSpPr txBox="1"/>
          <p:nvPr/>
        </p:nvSpPr>
        <p:spPr>
          <a:xfrm>
            <a:off x="199717" y="6444621"/>
            <a:ext cx="44083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Vanguard Client Telemetry AI System    |    </a:t>
            </a:r>
            <a:r>
              <a:rPr lang="en-US" sz="1200">
                <a:solidFill>
                  <a:srgbClr val="D1D5D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CI493 Senior Design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7E0B93B-CD0F-AE57-C272-AE31DA5DA97D}"/>
              </a:ext>
            </a:extLst>
          </p:cNvPr>
          <p:cNvSpPr/>
          <p:nvPr/>
        </p:nvSpPr>
        <p:spPr>
          <a:xfrm>
            <a:off x="11292114" y="6400240"/>
            <a:ext cx="457200" cy="365760"/>
          </a:xfrm>
          <a:prstGeom prst="roundRect">
            <a:avLst/>
          </a:prstGeom>
          <a:solidFill>
            <a:srgbClr val="C81E3A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14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DF440C-B83C-051F-4C62-C647ED1EB881}"/>
              </a:ext>
            </a:extLst>
          </p:cNvPr>
          <p:cNvSpPr/>
          <p:nvPr/>
        </p:nvSpPr>
        <p:spPr>
          <a:xfrm>
            <a:off x="0" y="555179"/>
            <a:ext cx="12191999" cy="57476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A540ED-1F12-660B-D35F-51CEE5DC32F9}"/>
              </a:ext>
            </a:extLst>
          </p:cNvPr>
          <p:cNvSpPr txBox="1"/>
          <p:nvPr/>
        </p:nvSpPr>
        <p:spPr>
          <a:xfrm>
            <a:off x="432192" y="768419"/>
            <a:ext cx="750294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/>
              <a:t>Phase 2: AI Team - Test Cases</a:t>
            </a:r>
            <a:endParaRPr lang="en-US" sz="3600" b="1">
              <a:solidFill>
                <a:srgbClr val="111827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DAC204-D288-4DCF-EF0E-912811FDCC98}"/>
              </a:ext>
            </a:extLst>
          </p:cNvPr>
          <p:cNvSpPr txBox="1"/>
          <p:nvPr/>
        </p:nvSpPr>
        <p:spPr>
          <a:xfrm>
            <a:off x="432192" y="1413063"/>
            <a:ext cx="10859922" cy="40318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sz="1600">
              <a:solidFill>
                <a:srgbClr val="1E293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1E293B"/>
                </a:solidFill>
                <a:ea typeface="+mn-lt"/>
                <a:cs typeface="+mn-lt"/>
              </a:rPr>
              <a:t>01: Aggregated Metrics Accuracy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1600">
                <a:solidFill>
                  <a:srgbClr val="1E293B"/>
                </a:solidFill>
                <a:ea typeface="+mn-lt"/>
                <a:cs typeface="+mn-lt"/>
              </a:rPr>
              <a:t>Verify </a:t>
            </a:r>
            <a:r>
              <a:rPr lang="en-US" sz="1600" err="1">
                <a:solidFill>
                  <a:srgbClr val="1E293B"/>
                </a:solidFill>
                <a:ea typeface="+mn-lt"/>
                <a:cs typeface="+mn-lt"/>
              </a:rPr>
              <a:t>preprocess.py</a:t>
            </a:r>
            <a:r>
              <a:rPr lang="en-US" sz="1600">
                <a:solidFill>
                  <a:srgbClr val="1E293B"/>
                </a:solidFill>
                <a:ea typeface="+mn-lt"/>
                <a:cs typeface="+mn-lt"/>
              </a:rPr>
              <a:t> correctly computes session metrics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1600">
                <a:solidFill>
                  <a:srgbClr val="1E293B"/>
                </a:solidFill>
                <a:ea typeface="+mn-lt"/>
                <a:cs typeface="+mn-lt"/>
              </a:rPr>
              <a:t>Validate </a:t>
            </a:r>
            <a:r>
              <a:rPr lang="en-US" sz="1600" err="1">
                <a:solidFill>
                  <a:srgbClr val="1E293B"/>
                </a:solidFill>
                <a:ea typeface="+mn-lt"/>
                <a:cs typeface="+mn-lt"/>
              </a:rPr>
              <a:t>event_count</a:t>
            </a:r>
            <a:r>
              <a:rPr lang="en-US" sz="1600">
                <a:solidFill>
                  <a:srgbClr val="1E293B"/>
                </a:solidFill>
                <a:ea typeface="+mn-lt"/>
                <a:cs typeface="+mn-lt"/>
              </a:rPr>
              <a:t> and </a:t>
            </a:r>
            <a:r>
              <a:rPr lang="en-US" sz="1600" err="1">
                <a:solidFill>
                  <a:srgbClr val="1E293B"/>
                </a:solidFill>
                <a:ea typeface="+mn-lt"/>
                <a:cs typeface="+mn-lt"/>
              </a:rPr>
              <a:t>session_duration_ms</a:t>
            </a:r>
            <a:r>
              <a:rPr lang="en-US" sz="1600">
                <a:solidFill>
                  <a:srgbClr val="1E293B"/>
                </a:solidFill>
                <a:ea typeface="+mn-lt"/>
                <a:cs typeface="+mn-lt"/>
              </a:rPr>
              <a:t> match raw telemetry data</a:t>
            </a:r>
            <a:endParaRPr lang="en-US" sz="1600">
              <a:solidFill>
                <a:srgbClr val="1E293B"/>
              </a:solidFill>
            </a:endParaRP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1600">
                <a:solidFill>
                  <a:srgbClr val="1E293B"/>
                </a:solidFill>
                <a:ea typeface="+mn-lt"/>
                <a:cs typeface="+mn-lt"/>
              </a:rPr>
              <a:t>Result: PASS — metrics are consistent and accurate</a:t>
            </a:r>
            <a:endParaRPr lang="en-US" sz="1600">
              <a:solidFill>
                <a:srgbClr val="1E293B"/>
              </a:solidFill>
            </a:endParaRPr>
          </a:p>
          <a:p>
            <a:pPr marL="742950" lvl="1" indent="-285750">
              <a:buFont typeface="Courier New" panose="020B0604020202020204" pitchFamily="34" charset="0"/>
              <a:buChar char="o"/>
            </a:pPr>
            <a:endParaRPr lang="en-US" sz="1600">
              <a:solidFill>
                <a:srgbClr val="1E293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1E293B"/>
                </a:solidFill>
                <a:ea typeface="+mn-lt"/>
                <a:cs typeface="+mn-lt"/>
              </a:rPr>
              <a:t>02: Severity Logic Correctness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1600">
                <a:solidFill>
                  <a:srgbClr val="1E293B"/>
                </a:solidFill>
                <a:ea typeface="+mn-lt"/>
                <a:cs typeface="+mn-lt"/>
              </a:rPr>
              <a:t>Test </a:t>
            </a:r>
            <a:r>
              <a:rPr lang="en-US" sz="1600" err="1">
                <a:solidFill>
                  <a:srgbClr val="1E293B"/>
                </a:solidFill>
                <a:ea typeface="+mn-lt"/>
                <a:cs typeface="+mn-lt"/>
              </a:rPr>
              <a:t>utils.py</a:t>
            </a:r>
            <a:r>
              <a:rPr lang="en-US" sz="1600">
                <a:solidFill>
                  <a:srgbClr val="1E293B"/>
                </a:solidFill>
                <a:ea typeface="+mn-lt"/>
                <a:cs typeface="+mn-lt"/>
              </a:rPr>
              <a:t> severity classification thresholds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1600">
                <a:solidFill>
                  <a:srgbClr val="1E293B"/>
                </a:solidFill>
                <a:ea typeface="+mn-lt"/>
                <a:cs typeface="+mn-lt"/>
              </a:rPr>
              <a:t>Validate score mapping: Normal / Medium / High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1600">
                <a:solidFill>
                  <a:srgbClr val="1E293B"/>
                </a:solidFill>
                <a:ea typeface="+mn-lt"/>
                <a:cs typeface="+mn-lt"/>
              </a:rPr>
              <a:t>Result: PASS — scoring logic works correctly and consistently</a:t>
            </a:r>
            <a:endParaRPr lang="en-US" sz="1600">
              <a:solidFill>
                <a:srgbClr val="1E293B"/>
              </a:solidFill>
            </a:endParaRPr>
          </a:p>
          <a:p>
            <a:pPr marL="742950" lvl="1" indent="-285750">
              <a:buFont typeface="Courier New" panose="020B0604020202020204" pitchFamily="34" charset="0"/>
              <a:buChar char="o"/>
            </a:pPr>
            <a:endParaRPr lang="en-US" sz="1600">
              <a:solidFill>
                <a:srgbClr val="1E293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1E293B"/>
                </a:solidFill>
                <a:ea typeface="+mn-lt"/>
                <a:cs typeface="+mn-lt"/>
              </a:rPr>
              <a:t>03: Inference Workflow (Local)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600">
                <a:solidFill>
                  <a:srgbClr val="1E293B"/>
                </a:solidFill>
                <a:ea typeface="+mn-lt"/>
                <a:cs typeface="+mn-lt"/>
              </a:rPr>
              <a:t>Verify </a:t>
            </a:r>
            <a:r>
              <a:rPr lang="en-US" sz="1600" err="1">
                <a:solidFill>
                  <a:srgbClr val="1E293B"/>
                </a:solidFill>
                <a:ea typeface="+mn-lt"/>
                <a:cs typeface="+mn-lt"/>
              </a:rPr>
              <a:t>client.py</a:t>
            </a:r>
            <a:r>
              <a:rPr lang="en-US" sz="1600">
                <a:solidFill>
                  <a:srgbClr val="1E293B"/>
                </a:solidFill>
                <a:ea typeface="+mn-lt"/>
                <a:cs typeface="+mn-lt"/>
              </a:rPr>
              <a:t> local inference and model sync fallback</a:t>
            </a:r>
            <a:endParaRPr lang="en-US" sz="1600" b="1">
              <a:solidFill>
                <a:srgbClr val="1E293B"/>
              </a:solidFill>
              <a:ea typeface="+mn-lt"/>
              <a:cs typeface="+mn-lt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600">
                <a:solidFill>
                  <a:srgbClr val="1E293B"/>
                </a:solidFill>
                <a:ea typeface="+mn-lt"/>
                <a:cs typeface="+mn-lt"/>
              </a:rPr>
              <a:t>Simulate failed S3 download and confirm fallback to stable model</a:t>
            </a:r>
            <a:endParaRPr lang="en-US" sz="1600">
              <a:solidFill>
                <a:srgbClr val="1E293B"/>
              </a:solidFill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600">
                <a:solidFill>
                  <a:srgbClr val="1E293B"/>
                </a:solidFill>
                <a:ea typeface="+mn-lt"/>
                <a:cs typeface="+mn-lt"/>
              </a:rPr>
              <a:t>Result: PASS — model syncing and fallback work properly</a:t>
            </a:r>
            <a:endParaRPr lang="en-US" sz="1600">
              <a:solidFill>
                <a:srgbClr val="1E293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rgbClr val="1E29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750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A820CD-F752-BB98-2671-7DBC67198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E68609-C56D-3F2D-FF1A-05DDAF1AB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72" y="-520613"/>
            <a:ext cx="1642976" cy="16429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49008A-567F-FE6B-DBDE-B85B23405CBA}"/>
              </a:ext>
            </a:extLst>
          </p:cNvPr>
          <p:cNvSpPr txBox="1"/>
          <p:nvPr/>
        </p:nvSpPr>
        <p:spPr>
          <a:xfrm>
            <a:off x="1817148" y="146986"/>
            <a:ext cx="2790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rgbClr val="D1D5D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CLIENT TELEMETRY AI SYSTEM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9229AE-43B9-8224-1AB8-4D95AE961DA1}"/>
              </a:ext>
            </a:extLst>
          </p:cNvPr>
          <p:cNvCxnSpPr>
            <a:cxnSpLocks/>
          </p:cNvCxnSpPr>
          <p:nvPr/>
        </p:nvCxnSpPr>
        <p:spPr>
          <a:xfrm>
            <a:off x="0" y="566057"/>
            <a:ext cx="1219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BE1AAA5-2755-4DCA-A67E-7FDA867FDAA0}"/>
              </a:ext>
            </a:extLst>
          </p:cNvPr>
          <p:cNvCxnSpPr>
            <a:cxnSpLocks/>
          </p:cNvCxnSpPr>
          <p:nvPr/>
        </p:nvCxnSpPr>
        <p:spPr>
          <a:xfrm>
            <a:off x="0" y="6313714"/>
            <a:ext cx="1219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5C061B7-3532-E894-7CFC-CACCAB7EE769}"/>
              </a:ext>
            </a:extLst>
          </p:cNvPr>
          <p:cNvSpPr txBox="1"/>
          <p:nvPr/>
        </p:nvSpPr>
        <p:spPr>
          <a:xfrm>
            <a:off x="199717" y="6444621"/>
            <a:ext cx="44083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Vanguard Client Telemetry AI System    |    </a:t>
            </a:r>
            <a:r>
              <a:rPr lang="en-US" sz="1200">
                <a:solidFill>
                  <a:srgbClr val="D1D5D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CI493 Senior Design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070E626-B041-3BDE-E076-5789CB4BEEED}"/>
              </a:ext>
            </a:extLst>
          </p:cNvPr>
          <p:cNvSpPr/>
          <p:nvPr/>
        </p:nvSpPr>
        <p:spPr>
          <a:xfrm>
            <a:off x="11292114" y="6400240"/>
            <a:ext cx="457200" cy="365760"/>
          </a:xfrm>
          <a:prstGeom prst="roundRect">
            <a:avLst/>
          </a:prstGeom>
          <a:solidFill>
            <a:srgbClr val="C81E3A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15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89FE0A-FD0D-BA49-5314-B291BBCA5204}"/>
              </a:ext>
            </a:extLst>
          </p:cNvPr>
          <p:cNvSpPr/>
          <p:nvPr/>
        </p:nvSpPr>
        <p:spPr>
          <a:xfrm>
            <a:off x="0" y="555179"/>
            <a:ext cx="12191999" cy="57476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980ADC-1448-344C-1ABB-7ED2E0DC348E}"/>
              </a:ext>
            </a:extLst>
          </p:cNvPr>
          <p:cNvSpPr txBox="1"/>
          <p:nvPr/>
        </p:nvSpPr>
        <p:spPr>
          <a:xfrm>
            <a:off x="432192" y="768419"/>
            <a:ext cx="8607287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/>
              <a:t>Phase 3: Dashboard Team – Test Cases</a:t>
            </a:r>
            <a:endParaRPr lang="en-US" sz="3600" b="1">
              <a:solidFill>
                <a:srgbClr val="000000"/>
              </a:solidFill>
              <a:latin typeface="Aptos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E50F16-33C1-3DF0-9A91-6F111091EAC2}"/>
              </a:ext>
            </a:extLst>
          </p:cNvPr>
          <p:cNvSpPr txBox="1"/>
          <p:nvPr/>
        </p:nvSpPr>
        <p:spPr>
          <a:xfrm>
            <a:off x="432192" y="1413063"/>
            <a:ext cx="10859922" cy="53860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b="1">
                <a:solidFill>
                  <a:srgbClr val="1E293B"/>
                </a:solidFill>
                <a:ea typeface="+mn-lt"/>
                <a:cs typeface="+mn-lt"/>
              </a:rPr>
              <a:t>• 01: Session-to-Prediction Mapping</a:t>
            </a:r>
            <a:endParaRPr lang="en-US" sz="1400" b="1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Courier New"/>
              <a:buChar char="o"/>
            </a:pP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Verify Sessions, Alerts, Queue, and Session Detail pages display consistent session data</a:t>
            </a:r>
            <a:endParaRPr lang="en-US" sz="1400" b="1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Courier New"/>
              <a:buChar char="o"/>
            </a:pP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Validate severity labels, timestamps, and prediction scores remain synchronized across views</a:t>
            </a:r>
            <a:endParaRPr lang="en-US" sz="1400" b="1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Courier New"/>
              <a:buChar char="o"/>
            </a:pP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Result: PASS - dashboard views maintain consistent session mapping</a:t>
            </a:r>
            <a:br>
              <a:rPr lang="en-US" sz="1600"/>
            </a:br>
            <a:endParaRPr lang="en-US" sz="1600" b="1"/>
          </a:p>
          <a:p>
            <a:r>
              <a:rPr lang="en-US" sz="1400" b="1">
                <a:solidFill>
                  <a:srgbClr val="1E293B"/>
                </a:solidFill>
                <a:ea typeface="+mn-lt"/>
                <a:cs typeface="+mn-lt"/>
              </a:rPr>
              <a:t>• 02: Event Timeline API Integration</a:t>
            </a:r>
            <a:endParaRPr lang="en-US" sz="140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Courier New"/>
              <a:buChar char="o"/>
            </a:pP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Verify </a:t>
            </a:r>
            <a:r>
              <a:rPr lang="en-US" sz="1400">
                <a:solidFill>
                  <a:srgbClr val="1E293B"/>
                </a:solidFill>
                <a:latin typeface="Consolas"/>
                <a:ea typeface="+mn-lt"/>
                <a:cs typeface="+mn-lt"/>
              </a:rPr>
              <a:t>/</a:t>
            </a:r>
            <a:r>
              <a:rPr lang="en-US" sz="1400" err="1">
                <a:solidFill>
                  <a:srgbClr val="1E293B"/>
                </a:solidFill>
                <a:latin typeface="Consolas"/>
                <a:ea typeface="+mn-lt"/>
                <a:cs typeface="+mn-lt"/>
              </a:rPr>
              <a:t>api</a:t>
            </a:r>
            <a:r>
              <a:rPr lang="en-US" sz="1400">
                <a:solidFill>
                  <a:srgbClr val="1E293B"/>
                </a:solidFill>
                <a:latin typeface="Consolas"/>
                <a:ea typeface="+mn-lt"/>
                <a:cs typeface="+mn-lt"/>
              </a:rPr>
              <a:t>/sessions/{</a:t>
            </a:r>
            <a:r>
              <a:rPr lang="en-US" sz="1400" err="1">
                <a:solidFill>
                  <a:srgbClr val="1E293B"/>
                </a:solidFill>
                <a:latin typeface="Consolas"/>
                <a:ea typeface="+mn-lt"/>
                <a:cs typeface="+mn-lt"/>
              </a:rPr>
              <a:t>sessionId</a:t>
            </a:r>
            <a:r>
              <a:rPr lang="en-US" sz="1400">
                <a:solidFill>
                  <a:srgbClr val="1E293B"/>
                </a:solidFill>
                <a:latin typeface="Consolas"/>
                <a:ea typeface="+mn-lt"/>
                <a:cs typeface="+mn-lt"/>
              </a:rPr>
              <a:t>}/events</a:t>
            </a: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 retrieves telemetry events from AWS S3 raw NDJSON logs</a:t>
            </a:r>
            <a:endParaRPr lang="en-US" sz="140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Courier New"/>
              <a:buChar char="o"/>
            </a:pP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Validate backend parsing, API response structure, and frontend timeline rendering</a:t>
            </a:r>
            <a:endParaRPr lang="en-US" sz="140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Courier New"/>
              <a:buChar char="o"/>
            </a:pP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Result: PASS - event timeline integration and rendering function correctly</a:t>
            </a:r>
            <a:endParaRPr lang="en-US" sz="1400">
              <a:ea typeface="+mn-lt"/>
              <a:cs typeface="+mn-lt"/>
            </a:endParaRPr>
          </a:p>
          <a:p>
            <a:pPr marL="285750" indent="-285750">
              <a:buFont typeface="Courier New"/>
              <a:buChar char="o"/>
            </a:pP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Current Limitation: exact session-to-event alignment is still being refined due to identifier inconsistencies between processed session data and raw telemetry logs</a:t>
            </a:r>
            <a:br>
              <a:rPr lang="en-US" sz="1600"/>
            </a:br>
            <a:endParaRPr lang="en-US" sz="1600" b="1"/>
          </a:p>
          <a:p>
            <a:r>
              <a:rPr lang="en-US" sz="1400" b="1">
                <a:solidFill>
                  <a:srgbClr val="1E293B"/>
                </a:solidFill>
                <a:ea typeface="+mn-lt"/>
                <a:cs typeface="+mn-lt"/>
              </a:rPr>
              <a:t>• 03: Severity-Based Alerts &amp; Queue Prioritization</a:t>
            </a:r>
            <a:endParaRPr lang="en-US" sz="140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Courier New"/>
              <a:buChar char="o"/>
            </a:pP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Verify high-severity sessions appear correctly within Alerts and Queue views</a:t>
            </a:r>
            <a:endParaRPr lang="en-US" sz="140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Courier New"/>
              <a:buChar char="o"/>
            </a:pP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Validate severity filtering and prioritization logic</a:t>
            </a:r>
            <a:endParaRPr lang="en-US" sz="140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Courier New"/>
              <a:buChar char="o"/>
            </a:pP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Result: PASS - prioritization and filtering behave correctly</a:t>
            </a:r>
            <a:br>
              <a:rPr lang="en-US" sz="1600"/>
            </a:br>
            <a:endParaRPr lang="en-US" sz="1600"/>
          </a:p>
          <a:p>
            <a:r>
              <a:rPr lang="en-US" sz="1400" b="1">
                <a:solidFill>
                  <a:srgbClr val="1E293B"/>
                </a:solidFill>
                <a:ea typeface="+mn-lt"/>
                <a:cs typeface="+mn-lt"/>
              </a:rPr>
              <a:t>• 04: Admin Override Workflow</a:t>
            </a:r>
            <a:endParaRPr lang="en-US" sz="140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Courier New"/>
              <a:buChar char="o"/>
            </a:pP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Verify manual severity overrides update dashboard session state correctly</a:t>
            </a:r>
            <a:endParaRPr lang="en-US" sz="140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Courier New"/>
              <a:buChar char="o"/>
            </a:pP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Validate override comments and persistence logic</a:t>
            </a:r>
            <a:endParaRPr lang="en-US" sz="140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Courier New"/>
              <a:buChar char="o"/>
            </a:pP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Result: PASS - override workflow functions correctly</a:t>
            </a:r>
            <a:endParaRPr lang="en-US" sz="1400"/>
          </a:p>
          <a:p>
            <a:endParaRPr lang="en-US" sz="1400">
              <a:solidFill>
                <a:srgbClr val="1E293B"/>
              </a:solidFill>
              <a:ea typeface="+mn-lt"/>
              <a:cs typeface="+mn-lt"/>
            </a:endParaRPr>
          </a:p>
          <a:p>
            <a:pPr marL="742950" lvl="1" indent="-285750">
              <a:buFont typeface="Courier New"/>
              <a:buChar char="o"/>
            </a:pPr>
            <a:endParaRPr lang="en-US" sz="1400">
              <a:solidFill>
                <a:srgbClr val="1E293B"/>
              </a:solidFill>
            </a:endParaRPr>
          </a:p>
          <a:p>
            <a:pPr marL="285750" indent="-285750">
              <a:buFont typeface="Courier New" panose="020B0604020202020204" pitchFamily="34" charset="0"/>
              <a:buChar char="o"/>
            </a:pPr>
            <a:endParaRPr lang="en-US" sz="1600">
              <a:solidFill>
                <a:srgbClr val="1E29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25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31843D-6A25-4C14-4256-0581DD33E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DCD0BF-1E56-B03B-7715-369F5BEED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72" y="-520613"/>
            <a:ext cx="1642976" cy="16429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2A1EDF-FFA1-DA43-9BE3-794008D7BB59}"/>
              </a:ext>
            </a:extLst>
          </p:cNvPr>
          <p:cNvSpPr txBox="1"/>
          <p:nvPr/>
        </p:nvSpPr>
        <p:spPr>
          <a:xfrm>
            <a:off x="1817148" y="146986"/>
            <a:ext cx="2790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rgbClr val="D1D5D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CLIENT TELEMETRY AI SYSTEM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A29FCEB-BD42-0BF4-F0BC-5F99F1E20343}"/>
              </a:ext>
            </a:extLst>
          </p:cNvPr>
          <p:cNvCxnSpPr>
            <a:cxnSpLocks/>
          </p:cNvCxnSpPr>
          <p:nvPr/>
        </p:nvCxnSpPr>
        <p:spPr>
          <a:xfrm>
            <a:off x="0" y="566057"/>
            <a:ext cx="1219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4C9B38C-3C4F-1A09-DE49-2CD1150EC66A}"/>
              </a:ext>
            </a:extLst>
          </p:cNvPr>
          <p:cNvCxnSpPr>
            <a:cxnSpLocks/>
          </p:cNvCxnSpPr>
          <p:nvPr/>
        </p:nvCxnSpPr>
        <p:spPr>
          <a:xfrm>
            <a:off x="0" y="6313714"/>
            <a:ext cx="1219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0714C52-376E-0F0E-93CF-1666A92D2D79}"/>
              </a:ext>
            </a:extLst>
          </p:cNvPr>
          <p:cNvSpPr txBox="1"/>
          <p:nvPr/>
        </p:nvSpPr>
        <p:spPr>
          <a:xfrm>
            <a:off x="199717" y="6444621"/>
            <a:ext cx="44083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Vanguard Client Telemetry AI System    |    </a:t>
            </a:r>
            <a:r>
              <a:rPr lang="en-US" sz="1200">
                <a:solidFill>
                  <a:srgbClr val="D1D5D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CI493 Senior Design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1B6C0FA-2580-98CA-3609-E059F8953B01}"/>
              </a:ext>
            </a:extLst>
          </p:cNvPr>
          <p:cNvSpPr/>
          <p:nvPr/>
        </p:nvSpPr>
        <p:spPr>
          <a:xfrm>
            <a:off x="11292114" y="6400240"/>
            <a:ext cx="457200" cy="365760"/>
          </a:xfrm>
          <a:prstGeom prst="roundRect">
            <a:avLst/>
          </a:prstGeom>
          <a:solidFill>
            <a:srgbClr val="C81E3A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16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972A5F-E4CE-6B75-BDAA-3BFB7C9DB1F7}"/>
              </a:ext>
            </a:extLst>
          </p:cNvPr>
          <p:cNvSpPr/>
          <p:nvPr/>
        </p:nvSpPr>
        <p:spPr>
          <a:xfrm>
            <a:off x="0" y="555179"/>
            <a:ext cx="12191999" cy="57476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51CF37-DA5F-9F09-2F03-09750AFD9B60}"/>
              </a:ext>
            </a:extLst>
          </p:cNvPr>
          <p:cNvSpPr txBox="1"/>
          <p:nvPr/>
        </p:nvSpPr>
        <p:spPr>
          <a:xfrm>
            <a:off x="432192" y="768419"/>
            <a:ext cx="75029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/>
              <a:t>Final Outcomes</a:t>
            </a:r>
            <a:endParaRPr lang="en-US" sz="3600" b="1">
              <a:solidFill>
                <a:srgbClr val="111827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9CB1CE-E8CC-BD14-432E-C713258652DA}"/>
              </a:ext>
            </a:extLst>
          </p:cNvPr>
          <p:cNvSpPr txBox="1"/>
          <p:nvPr/>
        </p:nvSpPr>
        <p:spPr>
          <a:xfrm>
            <a:off x="474870" y="1555193"/>
            <a:ext cx="11274444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Phase 3: Final Outcomes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Developed a centralized dashboard for session monitoring, alerts, queue management, and admin review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Implemented cross-page session consistency across Sessions, Alerts, Queue, and Session Detail views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Integrated frontend dashboard views with backend Flask APIs for real-time session and prediction retrieval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Developed Session Detail visualization including behavioral metrics, prediction results, and telemetry metadata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Integrated raw telemetry event timeline visualization using AWS S3 NDJSON event logs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Implemented severity-based filtering and prioritization across Alerts and Queue views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Developed admin override and feedback functionality to support human-in-the-loop review workflows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Identified and analyzed pipeline consistency challenges involving processed session identifiers and raw telemetry alignment across phases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063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76F978-94E2-6BA9-7804-3C4A64424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6FB103-654F-00C8-97D6-8398EC87D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72" y="-520613"/>
            <a:ext cx="1642976" cy="16429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CD2C00-7E2D-A1F8-DF4A-58A1F85417D1}"/>
              </a:ext>
            </a:extLst>
          </p:cNvPr>
          <p:cNvSpPr txBox="1"/>
          <p:nvPr/>
        </p:nvSpPr>
        <p:spPr>
          <a:xfrm>
            <a:off x="1817148" y="146986"/>
            <a:ext cx="2790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rgbClr val="D1D5D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CLIENT TELEMETRY AI SYSTEM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64C31EC-E0E7-947F-0811-B29A6CD2C5E0}"/>
              </a:ext>
            </a:extLst>
          </p:cNvPr>
          <p:cNvCxnSpPr>
            <a:cxnSpLocks/>
          </p:cNvCxnSpPr>
          <p:nvPr/>
        </p:nvCxnSpPr>
        <p:spPr>
          <a:xfrm>
            <a:off x="0" y="566057"/>
            <a:ext cx="1219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BE65673-265E-922D-050E-FA382DFA1060}"/>
              </a:ext>
            </a:extLst>
          </p:cNvPr>
          <p:cNvCxnSpPr>
            <a:cxnSpLocks/>
          </p:cNvCxnSpPr>
          <p:nvPr/>
        </p:nvCxnSpPr>
        <p:spPr>
          <a:xfrm>
            <a:off x="0" y="6313714"/>
            <a:ext cx="1219200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D1F615C-B726-0F4E-7F43-4BEED9FFF9F1}"/>
              </a:ext>
            </a:extLst>
          </p:cNvPr>
          <p:cNvSpPr txBox="1"/>
          <p:nvPr/>
        </p:nvSpPr>
        <p:spPr>
          <a:xfrm>
            <a:off x="199717" y="6444621"/>
            <a:ext cx="44083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Vanguard Client Telemetry AI System    |    </a:t>
            </a:r>
            <a:r>
              <a:rPr lang="en-US" sz="1200">
                <a:solidFill>
                  <a:srgbClr val="D1D5D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CI493 Senior Design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7FB4E3A-B9B1-EBC7-6969-13E942FB24C4}"/>
              </a:ext>
            </a:extLst>
          </p:cNvPr>
          <p:cNvSpPr/>
          <p:nvPr/>
        </p:nvSpPr>
        <p:spPr>
          <a:xfrm>
            <a:off x="11292114" y="6400240"/>
            <a:ext cx="457200" cy="365760"/>
          </a:xfrm>
          <a:prstGeom prst="roundRect">
            <a:avLst/>
          </a:prstGeom>
          <a:solidFill>
            <a:srgbClr val="C81E3A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17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DF0B2D-065F-D6AA-8A5D-447C70FC6D1A}"/>
              </a:ext>
            </a:extLst>
          </p:cNvPr>
          <p:cNvSpPr/>
          <p:nvPr/>
        </p:nvSpPr>
        <p:spPr>
          <a:xfrm>
            <a:off x="0" y="555179"/>
            <a:ext cx="12191999" cy="57476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A3B88D-0C16-C878-6A50-3989309C208E}"/>
              </a:ext>
            </a:extLst>
          </p:cNvPr>
          <p:cNvSpPr txBox="1"/>
          <p:nvPr/>
        </p:nvSpPr>
        <p:spPr>
          <a:xfrm>
            <a:off x="549799" y="799196"/>
            <a:ext cx="75029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/>
              <a:t>Thank You</a:t>
            </a:r>
            <a:endParaRPr lang="en-US" sz="3600" b="1">
              <a:solidFill>
                <a:srgbClr val="111827"/>
              </a:solidFill>
              <a:latin typeface="+mj-lt"/>
              <a:cs typeface="Segoe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E0457A-3393-8C3F-782A-989CB1EE51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800" y="703706"/>
            <a:ext cx="11092397" cy="5461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687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17</Slides>
  <Notes>17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Koka,Geri</dc:creator>
  <cp:revision>16</cp:revision>
  <dcterms:created xsi:type="dcterms:W3CDTF">2026-05-16T16:35:04Z</dcterms:created>
  <dcterms:modified xsi:type="dcterms:W3CDTF">2026-05-19T01:44:13Z</dcterms:modified>
</cp:coreProperties>
</file>